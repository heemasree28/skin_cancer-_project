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9" r:id="rId2"/>
    <p:sldId id="267" r:id="rId3"/>
    <p:sldId id="290" r:id="rId4"/>
    <p:sldId id="259" r:id="rId5"/>
    <p:sldId id="292" r:id="rId6"/>
    <p:sldId id="293" r:id="rId7"/>
    <p:sldId id="294" r:id="rId8"/>
    <p:sldId id="295" r:id="rId9"/>
    <p:sldId id="296" r:id="rId10"/>
    <p:sldId id="298" r:id="rId11"/>
    <p:sldId id="297" r:id="rId12"/>
    <p:sldId id="299" r:id="rId13"/>
    <p:sldId id="301" r:id="rId14"/>
    <p:sldId id="302" r:id="rId15"/>
    <p:sldId id="303" r:id="rId16"/>
    <p:sldId id="304" r:id="rId17"/>
    <p:sldId id="305" r:id="rId18"/>
    <p:sldId id="310" r:id="rId19"/>
    <p:sldId id="306" r:id="rId20"/>
    <p:sldId id="307" r:id="rId21"/>
    <p:sldId id="30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A1AE0-412B-4226-A454-971265EDAB99}" v="6" dt="2025-01-09T09:06:09.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ma sree" userId="d2a9df16657e9b30" providerId="LiveId" clId="{11CA1AE0-412B-4226-A454-971265EDAB99}"/>
    <pc:docChg chg="undo custSel addSld delSld modSld">
      <pc:chgData name="heema sree" userId="d2a9df16657e9b30" providerId="LiveId" clId="{11CA1AE0-412B-4226-A454-971265EDAB99}" dt="2025-01-28T17:09:47.772" v="76" actId="2711"/>
      <pc:docMkLst>
        <pc:docMk/>
      </pc:docMkLst>
      <pc:sldChg chg="modSp mod">
        <pc:chgData name="heema sree" userId="d2a9df16657e9b30" providerId="LiveId" clId="{11CA1AE0-412B-4226-A454-971265EDAB99}" dt="2025-01-08T04:26:41.447" v="35" actId="255"/>
        <pc:sldMkLst>
          <pc:docMk/>
          <pc:sldMk cId="255610127" sldId="289"/>
        </pc:sldMkLst>
        <pc:spChg chg="mod">
          <ac:chgData name="heema sree" userId="d2a9df16657e9b30" providerId="LiveId" clId="{11CA1AE0-412B-4226-A454-971265EDAB99}" dt="2025-01-08T04:26:41.447" v="35" actId="255"/>
          <ac:spMkLst>
            <pc:docMk/>
            <pc:sldMk cId="255610127" sldId="289"/>
            <ac:spMk id="2" creationId="{C498AB74-6720-7620-4F8A-9BCD0CCDFB93}"/>
          </ac:spMkLst>
        </pc:spChg>
        <pc:picChg chg="mod">
          <ac:chgData name="heema sree" userId="d2a9df16657e9b30" providerId="LiveId" clId="{11CA1AE0-412B-4226-A454-971265EDAB99}" dt="2025-01-08T04:25:33.872" v="19" actId="1076"/>
          <ac:picMkLst>
            <pc:docMk/>
            <pc:sldMk cId="255610127" sldId="289"/>
            <ac:picMk id="5" creationId="{C8E32DBC-6025-DC66-1045-87FB36E36DCC}"/>
          </ac:picMkLst>
        </pc:picChg>
      </pc:sldChg>
      <pc:sldChg chg="modSp mod">
        <pc:chgData name="heema sree" userId="d2a9df16657e9b30" providerId="LiveId" clId="{11CA1AE0-412B-4226-A454-971265EDAB99}" dt="2025-01-28T17:08:52.798" v="75" actId="2711"/>
        <pc:sldMkLst>
          <pc:docMk/>
          <pc:sldMk cId="81187809" sldId="293"/>
        </pc:sldMkLst>
        <pc:spChg chg="mod">
          <ac:chgData name="heema sree" userId="d2a9df16657e9b30" providerId="LiveId" clId="{11CA1AE0-412B-4226-A454-971265EDAB99}" dt="2025-01-28T17:08:52.798" v="75" actId="2711"/>
          <ac:spMkLst>
            <pc:docMk/>
            <pc:sldMk cId="81187809" sldId="293"/>
            <ac:spMk id="3" creationId="{398C411C-9270-93F0-6F35-228F653225AD}"/>
          </ac:spMkLst>
        </pc:spChg>
      </pc:sldChg>
      <pc:sldChg chg="modSp mod">
        <pc:chgData name="heema sree" userId="d2a9df16657e9b30" providerId="LiveId" clId="{11CA1AE0-412B-4226-A454-971265EDAB99}" dt="2025-01-09T05:20:50.003" v="48" actId="20577"/>
        <pc:sldMkLst>
          <pc:docMk/>
          <pc:sldMk cId="2433719677" sldId="304"/>
        </pc:sldMkLst>
        <pc:spChg chg="mod">
          <ac:chgData name="heema sree" userId="d2a9df16657e9b30" providerId="LiveId" clId="{11CA1AE0-412B-4226-A454-971265EDAB99}" dt="2025-01-09T05:20:50.003" v="48" actId="20577"/>
          <ac:spMkLst>
            <pc:docMk/>
            <pc:sldMk cId="2433719677" sldId="304"/>
            <ac:spMk id="3" creationId="{9BBDC1EA-8F96-5656-994E-8242985F9959}"/>
          </ac:spMkLst>
        </pc:spChg>
      </pc:sldChg>
      <pc:sldChg chg="modSp mod">
        <pc:chgData name="heema sree" userId="d2a9df16657e9b30" providerId="LiveId" clId="{11CA1AE0-412B-4226-A454-971265EDAB99}" dt="2025-01-09T05:22:34.539" v="52" actId="20577"/>
        <pc:sldMkLst>
          <pc:docMk/>
          <pc:sldMk cId="3552842009" sldId="305"/>
        </pc:sldMkLst>
        <pc:spChg chg="mod">
          <ac:chgData name="heema sree" userId="d2a9df16657e9b30" providerId="LiveId" clId="{11CA1AE0-412B-4226-A454-971265EDAB99}" dt="2025-01-09T05:22:34.539" v="52" actId="20577"/>
          <ac:spMkLst>
            <pc:docMk/>
            <pc:sldMk cId="3552842009" sldId="305"/>
            <ac:spMk id="3" creationId="{4A831C62-47F0-5E7A-72DD-944C02D7E13B}"/>
          </ac:spMkLst>
        </pc:spChg>
      </pc:sldChg>
      <pc:sldChg chg="modSp mod">
        <pc:chgData name="heema sree" userId="d2a9df16657e9b30" providerId="LiveId" clId="{11CA1AE0-412B-4226-A454-971265EDAB99}" dt="2025-01-28T17:09:47.772" v="76" actId="2711"/>
        <pc:sldMkLst>
          <pc:docMk/>
          <pc:sldMk cId="1570919150" sldId="307"/>
        </pc:sldMkLst>
        <pc:spChg chg="mod">
          <ac:chgData name="heema sree" userId="d2a9df16657e9b30" providerId="LiveId" clId="{11CA1AE0-412B-4226-A454-971265EDAB99}" dt="2025-01-28T17:09:47.772" v="76" actId="2711"/>
          <ac:spMkLst>
            <pc:docMk/>
            <pc:sldMk cId="1570919150" sldId="307"/>
            <ac:spMk id="3" creationId="{3C01D1EB-E954-9732-A9A7-8FD12412C8F9}"/>
          </ac:spMkLst>
        </pc:spChg>
      </pc:sldChg>
      <pc:sldChg chg="new del">
        <pc:chgData name="heema sree" userId="d2a9df16657e9b30" providerId="LiveId" clId="{11CA1AE0-412B-4226-A454-971265EDAB99}" dt="2025-01-09T09:04:44.475" v="55" actId="2696"/>
        <pc:sldMkLst>
          <pc:docMk/>
          <pc:sldMk cId="1135897522" sldId="309"/>
        </pc:sldMkLst>
      </pc:sldChg>
      <pc:sldChg chg="addSp delSp modSp new mod">
        <pc:chgData name="heema sree" userId="d2a9df16657e9b30" providerId="LiveId" clId="{11CA1AE0-412B-4226-A454-971265EDAB99}" dt="2025-01-09T09:06:22.615" v="74" actId="1035"/>
        <pc:sldMkLst>
          <pc:docMk/>
          <pc:sldMk cId="4022473735" sldId="310"/>
        </pc:sldMkLst>
        <pc:picChg chg="add mod">
          <ac:chgData name="heema sree" userId="d2a9df16657e9b30" providerId="LiveId" clId="{11CA1AE0-412B-4226-A454-971265EDAB99}" dt="2025-01-09T09:06:15.304" v="71" actId="14100"/>
          <ac:picMkLst>
            <pc:docMk/>
            <pc:sldMk cId="4022473735" sldId="310"/>
            <ac:picMk id="5" creationId="{7A45CA91-ABC1-FC41-F4B3-C5B20D09D45D}"/>
          </ac:picMkLst>
        </pc:picChg>
        <pc:picChg chg="add mod">
          <ac:chgData name="heema sree" userId="d2a9df16657e9b30" providerId="LiveId" clId="{11CA1AE0-412B-4226-A454-971265EDAB99}" dt="2025-01-09T09:06:22.615" v="74" actId="1035"/>
          <ac:picMkLst>
            <pc:docMk/>
            <pc:sldMk cId="4022473735" sldId="310"/>
            <ac:picMk id="7" creationId="{2F34FDFE-C8FD-13EE-B17C-13853898D8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B1E20-F663-4042-A96B-505F0581AA72}" type="datetimeFigureOut">
              <a:rPr lang="en-IN" smtClean="0"/>
              <a:t>28-01-2025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90B32D-85C0-45FF-86FF-614693A9D95B}" type="slidenum">
              <a:rPr lang="en-IN" smtClean="0"/>
              <a:t>‹#›</a:t>
            </a:fld>
            <a:endParaRPr lang="en-IN"/>
          </a:p>
        </p:txBody>
      </p:sp>
    </p:spTree>
    <p:extLst>
      <p:ext uri="{BB962C8B-B14F-4D97-AF65-F5344CB8AC3E}">
        <p14:creationId xmlns:p14="http://schemas.microsoft.com/office/powerpoint/2010/main" val="2556216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9CFE6F0-BA3D-484F-B2FB-DBDEFF3F01B2}" type="slidenum">
              <a:rPr lang="en-IN" smtClean="0"/>
              <a:t>1</a:t>
            </a:fld>
            <a:endParaRPr lang="en-IN"/>
          </a:p>
        </p:txBody>
      </p:sp>
    </p:spTree>
    <p:extLst>
      <p:ext uri="{BB962C8B-B14F-4D97-AF65-F5344CB8AC3E}">
        <p14:creationId xmlns:p14="http://schemas.microsoft.com/office/powerpoint/2010/main" val="1604847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90B32D-85C0-45FF-86FF-614693A9D95B}" type="slidenum">
              <a:rPr lang="en-IN" smtClean="0"/>
              <a:t>5</a:t>
            </a:fld>
            <a:endParaRPr lang="en-IN"/>
          </a:p>
        </p:txBody>
      </p:sp>
    </p:spTree>
    <p:extLst>
      <p:ext uri="{BB962C8B-B14F-4D97-AF65-F5344CB8AC3E}">
        <p14:creationId xmlns:p14="http://schemas.microsoft.com/office/powerpoint/2010/main" val="641039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90B32D-85C0-45FF-86FF-614693A9D95B}" type="slidenum">
              <a:rPr lang="en-IN" smtClean="0"/>
              <a:t>19</a:t>
            </a:fld>
            <a:endParaRPr lang="en-IN"/>
          </a:p>
        </p:txBody>
      </p:sp>
    </p:spTree>
    <p:extLst>
      <p:ext uri="{BB962C8B-B14F-4D97-AF65-F5344CB8AC3E}">
        <p14:creationId xmlns:p14="http://schemas.microsoft.com/office/powerpoint/2010/main" val="1730706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615C-DC44-FCD8-B03C-4AFB543040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D2B207-1E9E-A4FB-4D80-BD93DA05E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B601D0-45A8-B554-0E04-D8B469DF292C}"/>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2C9C1921-B4F6-5C6C-866B-9D1C28B6C9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469005-2AFD-95A4-632F-3F6EE3A899D0}"/>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3576537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C6256-52B2-1ECB-B89D-5ED0FC8E08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4DA6AC-909D-D33F-0719-D0C601D770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60E1A-A5E5-A1CD-B7F0-FE25A43507DD}"/>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6E242087-6550-7A2A-73F3-AF018DBDD5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7F488C-8CAC-B32B-7A51-F56A1AE930EC}"/>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4941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AE77-8684-A211-05BA-03085E6DDE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2B5A75-33ED-C788-A10E-67B1F09BD1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52E22E-77E1-6957-7BAA-A6041B620790}"/>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3BC7138E-527E-D820-C5A7-2673C1C204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5C997-DF0D-CC78-5F3C-5FCC887CA09C}"/>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4023068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F493-5313-2F6F-F82E-4CBF118248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0F29BB-37ED-EB4B-366C-303942569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B85C63-4076-54D3-EEDF-5B40C0E3D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20EB43-7EDC-A297-CEF0-37961E2034FE}"/>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6" name="Footer Placeholder 5">
            <a:extLst>
              <a:ext uri="{FF2B5EF4-FFF2-40B4-BE49-F238E27FC236}">
                <a16:creationId xmlns:a16="http://schemas.microsoft.com/office/drawing/2014/main" id="{A252D8A7-C8DF-DB83-AAE8-3E533E6DE9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705C48-DD53-0D81-61AB-50B05D0FD97A}"/>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3885237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1642-13B7-35EA-7911-82FE2F01BD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2CE455-BD9E-0DC5-0FB4-1FD0795FC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F9063A-BFDD-F378-A041-E0175400BA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435882-EB11-6A3E-EDAD-7F39747351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972C78-6247-0E81-CFE9-5862FEC71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3B555E-87A3-91B8-8566-2F0DC0F327AE}"/>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8" name="Footer Placeholder 7">
            <a:extLst>
              <a:ext uri="{FF2B5EF4-FFF2-40B4-BE49-F238E27FC236}">
                <a16:creationId xmlns:a16="http://schemas.microsoft.com/office/drawing/2014/main" id="{06F91D94-AEEC-28C0-F5D7-5DD5BFD86C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18C6CE-80CF-1274-A425-CB34895EC981}"/>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99374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4268-3D9E-500A-BDB4-A6F7485F77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D9EBF4-647C-B552-E443-3D88F2512A10}"/>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4" name="Footer Placeholder 3">
            <a:extLst>
              <a:ext uri="{FF2B5EF4-FFF2-40B4-BE49-F238E27FC236}">
                <a16:creationId xmlns:a16="http://schemas.microsoft.com/office/drawing/2014/main" id="{E96686D1-78AF-BC1A-B99F-38EA329075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99A6D0-50B7-0DFF-80A3-13C2129A99E2}"/>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3816563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91CD9-AB72-C150-C953-5A27C56BC431}"/>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3" name="Footer Placeholder 2">
            <a:extLst>
              <a:ext uri="{FF2B5EF4-FFF2-40B4-BE49-F238E27FC236}">
                <a16:creationId xmlns:a16="http://schemas.microsoft.com/office/drawing/2014/main" id="{AA951F2E-7537-858C-A27D-44A16DFFA17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88847B-75DF-2A61-A1A3-4510ACA10CE9}"/>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31175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7887-921B-7555-60DD-02D61519B7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2816C3-1EA6-85A6-EB92-37D2547C8F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6C7913-9A44-CAD2-22D2-8ACFDDB54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59BAD7-C012-C6A3-F987-B942A36CA6CA}"/>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6" name="Footer Placeholder 5">
            <a:extLst>
              <a:ext uri="{FF2B5EF4-FFF2-40B4-BE49-F238E27FC236}">
                <a16:creationId xmlns:a16="http://schemas.microsoft.com/office/drawing/2014/main" id="{0F99C7A7-0B23-8043-C0DC-865CD7D585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CF07BD-BB68-F2A5-B4D0-B52A9A943BFA}"/>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2251781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097EF-6B61-9B62-1ADC-A84F9C301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09C6C4-93F2-727A-4ED5-FD4FBAB2B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DA089C-2D75-7432-210C-BC0F31D440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F48D00-F5C1-9D72-2AD8-C650CD551880}"/>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6" name="Footer Placeholder 5">
            <a:extLst>
              <a:ext uri="{FF2B5EF4-FFF2-40B4-BE49-F238E27FC236}">
                <a16:creationId xmlns:a16="http://schemas.microsoft.com/office/drawing/2014/main" id="{FBECC210-7149-237E-9FCA-423EDD7DD4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3E319D-E8FA-472D-B1D1-D7689B345F8A}"/>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164443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1407-4612-1A79-7D55-B8A01A87B7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26215E-04AA-A069-B5BE-8D482CB1DB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577781-C138-107D-D454-CEC9E9099B5D}"/>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9F6A567F-52C4-08D1-3366-4ECB7F9A62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E7B76-31DB-A2D4-8E46-794F74845AC8}"/>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2566538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24CAEE-89F8-42E0-B9B5-484605C47F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C97054-1CF1-7B06-8042-865B5F57B8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74FBD4-E13C-19CA-5CBA-DE783FA6A680}"/>
              </a:ext>
            </a:extLst>
          </p:cNvPr>
          <p:cNvSpPr>
            <a:spLocks noGrp="1"/>
          </p:cNvSpPr>
          <p:nvPr>
            <p:ph type="dt" sz="half" idx="10"/>
          </p:nvPr>
        </p:nvSpPr>
        <p:spPr/>
        <p:txBody>
          <a:body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5418D4A9-B983-0454-0091-286F8D181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D28A5A-CABF-9807-B318-DEEF3E530520}"/>
              </a:ext>
            </a:extLst>
          </p:cNvPr>
          <p:cNvSpPr>
            <a:spLocks noGrp="1"/>
          </p:cNvSpPr>
          <p:nvPr>
            <p:ph type="sldNum" sz="quarter" idx="12"/>
          </p:nvPr>
        </p:nvSpPr>
        <p:spPr/>
        <p:txBody>
          <a:bodyPr/>
          <a:lstStyle/>
          <a:p>
            <a:fld id="{4CAFCD1B-8D27-4F61-B18B-FD0F432A02B5}" type="slidenum">
              <a:rPr lang="en-IN" smtClean="0"/>
              <a:t>‹#›</a:t>
            </a:fld>
            <a:endParaRPr lang="en-IN"/>
          </a:p>
        </p:txBody>
      </p:sp>
    </p:spTree>
    <p:extLst>
      <p:ext uri="{BB962C8B-B14F-4D97-AF65-F5344CB8AC3E}">
        <p14:creationId xmlns:p14="http://schemas.microsoft.com/office/powerpoint/2010/main" val="3774426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758C8-FE4E-AF59-8BAF-A4BEC18102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E316DC-C0B7-4DF5-6895-D7A1684EA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B6ED9A-CA6B-BD44-85EE-1C49620885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1E35F0-6125-4343-91A6-4512ACDC6EF9}" type="datetimeFigureOut">
              <a:rPr lang="en-IN" smtClean="0"/>
              <a:t>28-01-2025</a:t>
            </a:fld>
            <a:endParaRPr lang="en-IN"/>
          </a:p>
        </p:txBody>
      </p:sp>
      <p:sp>
        <p:nvSpPr>
          <p:cNvPr id="5" name="Footer Placeholder 4">
            <a:extLst>
              <a:ext uri="{FF2B5EF4-FFF2-40B4-BE49-F238E27FC236}">
                <a16:creationId xmlns:a16="http://schemas.microsoft.com/office/drawing/2014/main" id="{C4523568-94FB-B9D4-3ADE-592A40C997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426334-4F02-1B52-9A0C-8B283CB72C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FCD1B-8D27-4F61-B18B-FD0F432A02B5}" type="slidenum">
              <a:rPr lang="en-IN" smtClean="0"/>
              <a:t>‹#›</a:t>
            </a:fld>
            <a:endParaRPr lang="en-IN"/>
          </a:p>
        </p:txBody>
      </p:sp>
    </p:spTree>
    <p:extLst>
      <p:ext uri="{BB962C8B-B14F-4D97-AF65-F5344CB8AC3E}">
        <p14:creationId xmlns:p14="http://schemas.microsoft.com/office/powerpoint/2010/main" val="418160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ixabay.com/fr/illustrations/merci-note-merci-noter-message-142814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AB74-6720-7620-4F8A-9BCD0CCDFB93}"/>
              </a:ext>
            </a:extLst>
          </p:cNvPr>
          <p:cNvSpPr>
            <a:spLocks noGrp="1"/>
          </p:cNvSpPr>
          <p:nvPr>
            <p:ph type="ctrTitle"/>
          </p:nvPr>
        </p:nvSpPr>
        <p:spPr>
          <a:xfrm>
            <a:off x="1592825" y="206478"/>
            <a:ext cx="9556954" cy="3814915"/>
          </a:xfrm>
        </p:spPr>
        <p:txBody>
          <a:bodyPr>
            <a:normAutofit fontScale="90000"/>
          </a:bodyPr>
          <a:lstStyle/>
          <a:p>
            <a:br>
              <a:rPr lang="en-IN" sz="1600" dirty="0"/>
            </a:br>
            <a:br>
              <a:rPr lang="en-IN" sz="1600" dirty="0"/>
            </a:br>
            <a:br>
              <a:rPr lang="en-IN" sz="1600" dirty="0"/>
            </a:br>
            <a:br>
              <a:rPr lang="en-IN" sz="1600" dirty="0"/>
            </a:br>
            <a:br>
              <a:rPr lang="en-IN" sz="1600" dirty="0"/>
            </a:br>
            <a:br>
              <a:rPr lang="en-IN" sz="1600" dirty="0"/>
            </a:br>
            <a:br>
              <a:rPr lang="en-IN" sz="1600" dirty="0"/>
            </a:br>
            <a:br>
              <a:rPr lang="en-IN" sz="1600" dirty="0"/>
            </a:br>
            <a:r>
              <a:rPr lang="en-IN" sz="1900" dirty="0">
                <a:latin typeface="Times New Roman" panose="02020603050405020304" pitchFamily="18" charset="0"/>
                <a:cs typeface="Times New Roman" panose="02020603050405020304" pitchFamily="18" charset="0"/>
              </a:rPr>
              <a:t>A</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Mini Project </a:t>
            </a:r>
            <a:br>
              <a:rPr lang="en-IN" sz="1900" dirty="0">
                <a:latin typeface="Times New Roman" panose="02020603050405020304" pitchFamily="18" charset="0"/>
                <a:cs typeface="Times New Roman" panose="02020603050405020304" pitchFamily="18" charset="0"/>
              </a:rPr>
            </a:br>
            <a:r>
              <a:rPr lang="en-IN" sz="1900" b="0" dirty="0">
                <a:latin typeface="Times New Roman" panose="02020603050405020304" pitchFamily="18" charset="0"/>
                <a:cs typeface="Times New Roman" panose="02020603050405020304" pitchFamily="18" charset="0"/>
              </a:rPr>
              <a:t>On</a:t>
            </a:r>
            <a:br>
              <a:rPr lang="en-IN" sz="1900" b="0" dirty="0">
                <a:latin typeface="Times New Roman" panose="02020603050405020304" pitchFamily="18" charset="0"/>
                <a:cs typeface="Times New Roman" panose="02020603050405020304" pitchFamily="18" charset="0"/>
              </a:rPr>
            </a:br>
            <a:r>
              <a:rPr lang="en-US" sz="2100" b="1" kern="100" dirty="0">
                <a:effectLst/>
                <a:latin typeface="Times New Roman" panose="02020603050405020304" pitchFamily="18" charset="0"/>
                <a:ea typeface="Times New Roman" panose="02020603050405020304" pitchFamily="18" charset="0"/>
                <a:cs typeface="Times New Roman" panose="02020603050405020304" pitchFamily="18" charset="0"/>
              </a:rPr>
              <a:t>Skin Cancer Detection Using Convolutional Neural Networks</a:t>
            </a:r>
            <a:br>
              <a:rPr lang="en-IN" sz="1800" kern="100" dirty="0">
                <a:effectLst/>
                <a:latin typeface="Calibri" panose="020F0502020204030204" pitchFamily="34" charset="0"/>
                <a:ea typeface="Times New Roman" panose="02020603050405020304" pitchFamily="18" charset="0"/>
                <a:cs typeface="Times New Roman" panose="02020603050405020304" pitchFamily="18" charset="0"/>
              </a:rPr>
            </a:br>
            <a:r>
              <a:rPr lang="en-IN" sz="1900" b="0" dirty="0">
                <a:latin typeface="Times New Roman" panose="02020603050405020304" pitchFamily="18" charset="0"/>
                <a:cs typeface="Times New Roman" panose="02020603050405020304" pitchFamily="18" charset="0"/>
              </a:rPr>
              <a:t>by</a:t>
            </a:r>
            <a:br>
              <a:rPr lang="en-IN" sz="1900" b="1" dirty="0">
                <a:latin typeface="Times New Roman" panose="02020603050405020304" pitchFamily="18" charset="0"/>
                <a:cs typeface="Times New Roman" panose="02020603050405020304" pitchFamily="18" charset="0"/>
              </a:rPr>
            </a:br>
            <a:r>
              <a:rPr lang="en-IN" sz="1900" b="0" dirty="0">
                <a:latin typeface="Times New Roman" panose="02020603050405020304" pitchFamily="18" charset="0"/>
                <a:cs typeface="Times New Roman" panose="02020603050405020304" pitchFamily="18" charset="0"/>
              </a:rPr>
              <a:t>T. Heema Sree (21N81A6770)</a:t>
            </a:r>
            <a:br>
              <a:rPr lang="en-IN" sz="1900" b="0" dirty="0">
                <a:latin typeface="Times New Roman" panose="02020603050405020304" pitchFamily="18" charset="0"/>
                <a:cs typeface="Times New Roman" panose="02020603050405020304" pitchFamily="18" charset="0"/>
              </a:rPr>
            </a:br>
            <a:r>
              <a:rPr lang="en-IN" sz="1900" b="0" dirty="0">
                <a:latin typeface="Times New Roman" panose="02020603050405020304" pitchFamily="18" charset="0"/>
                <a:cs typeface="Times New Roman" panose="02020603050405020304" pitchFamily="18" charset="0"/>
              </a:rPr>
              <a:t>P. Navya Sri   (21N81A6782</a:t>
            </a:r>
            <a:r>
              <a:rPr lang="en-IN" sz="1900" dirty="0">
                <a:latin typeface="Times New Roman" panose="02020603050405020304" pitchFamily="18" charset="0"/>
                <a:cs typeface="Times New Roman" panose="02020603050405020304" pitchFamily="18" charset="0"/>
              </a:rPr>
              <a:t>)</a:t>
            </a:r>
            <a:br>
              <a:rPr lang="en-IN" sz="1900" dirty="0">
                <a:latin typeface="Times New Roman" panose="02020603050405020304" pitchFamily="18" charset="0"/>
                <a:cs typeface="Times New Roman" panose="02020603050405020304" pitchFamily="18" charset="0"/>
              </a:rPr>
            </a:br>
            <a:r>
              <a:rPr lang="en-US" sz="1900" b="0" dirty="0" err="1">
                <a:latin typeface="Times New Roman"/>
                <a:cs typeface="Times New Roman"/>
              </a:rPr>
              <a:t>K.Vamshidhar</a:t>
            </a:r>
            <a:r>
              <a:rPr lang="en-US" sz="1900" b="0" dirty="0">
                <a:latin typeface="Times New Roman"/>
                <a:cs typeface="Times New Roman"/>
              </a:rPr>
              <a:t>  (21N81A67B3)</a:t>
            </a:r>
            <a:br>
              <a:rPr lang="en-US" sz="2000" dirty="0"/>
            </a:br>
            <a:r>
              <a:rPr lang="en-IN" sz="1900" b="0" dirty="0">
                <a:latin typeface="Times New Roman" panose="02020603050405020304" pitchFamily="18" charset="0"/>
                <a:cs typeface="Times New Roman" panose="02020603050405020304" pitchFamily="18" charset="0"/>
              </a:rPr>
              <a:t>Under the Supervision of </a:t>
            </a:r>
            <a:br>
              <a:rPr lang="en-IN" sz="1900" b="0" dirty="0">
                <a:latin typeface="Times New Roman" panose="02020603050405020304" pitchFamily="18" charset="0"/>
                <a:cs typeface="Times New Roman" panose="02020603050405020304" pitchFamily="18" charset="0"/>
              </a:rPr>
            </a:br>
            <a:r>
              <a:rPr lang="en-IN" sz="1900" b="1" dirty="0" err="1">
                <a:latin typeface="Times New Roman" panose="02020603050405020304" pitchFamily="18" charset="0"/>
                <a:cs typeface="Times New Roman" panose="02020603050405020304" pitchFamily="18" charset="0"/>
              </a:rPr>
              <a:t>Mr.Raghavendra</a:t>
            </a:r>
            <a:r>
              <a:rPr lang="en-IN" sz="1900" b="1" dirty="0">
                <a:latin typeface="Times New Roman" panose="02020603050405020304" pitchFamily="18" charset="0"/>
                <a:cs typeface="Times New Roman" panose="02020603050405020304" pitchFamily="18" charset="0"/>
              </a:rPr>
              <a:t> M I  </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M.Tech</a:t>
            </a:r>
            <a:r>
              <a:rPr lang="en-IN" sz="1600" b="0" dirty="0">
                <a:latin typeface="Times New Roman" panose="02020603050405020304" pitchFamily="18" charset="0"/>
                <a:cs typeface="Times New Roman" panose="02020603050405020304" pitchFamily="18" charset="0"/>
              </a:rPr>
              <a:t> </a:t>
            </a:r>
            <a:br>
              <a:rPr lang="en-IN" sz="1900" dirty="0">
                <a:latin typeface="Times New Roman" panose="02020603050405020304" pitchFamily="18" charset="0"/>
                <a:cs typeface="Times New Roman" panose="02020603050405020304" pitchFamily="18" charset="0"/>
              </a:rPr>
            </a:br>
            <a:r>
              <a:rPr lang="en-IN" sz="1900" b="0" dirty="0">
                <a:latin typeface="Times New Roman" panose="02020603050405020304" pitchFamily="18" charset="0"/>
                <a:cs typeface="Times New Roman" panose="02020603050405020304" pitchFamily="18" charset="0"/>
              </a:rPr>
              <a:t>Assistant Professor</a:t>
            </a:r>
            <a:br>
              <a:rPr lang="en-IN" sz="1300" dirty="0">
                <a:latin typeface="Times New Roman" panose="02020603050405020304" pitchFamily="18" charset="0"/>
                <a:cs typeface="Times New Roman" panose="02020603050405020304" pitchFamily="18" charset="0"/>
              </a:rPr>
            </a:br>
            <a:br>
              <a:rPr lang="en-IN" sz="1300" dirty="0"/>
            </a:br>
            <a:br>
              <a:rPr lang="en-IN" sz="1300" dirty="0"/>
            </a:br>
            <a:br>
              <a:rPr lang="en-IN" sz="800" dirty="0"/>
            </a:br>
            <a:endParaRPr lang="en-IN" sz="2000" b="1" dirty="0"/>
          </a:p>
        </p:txBody>
      </p:sp>
      <p:sp>
        <p:nvSpPr>
          <p:cNvPr id="3" name="Subtitle 2">
            <a:extLst>
              <a:ext uri="{FF2B5EF4-FFF2-40B4-BE49-F238E27FC236}">
                <a16:creationId xmlns:a16="http://schemas.microsoft.com/office/drawing/2014/main" id="{BBB58AE1-B91C-69DC-2CBF-AF53D0E9CB15}"/>
              </a:ext>
            </a:extLst>
          </p:cNvPr>
          <p:cNvSpPr>
            <a:spLocks noGrp="1"/>
          </p:cNvSpPr>
          <p:nvPr>
            <p:ph type="subTitle" idx="1"/>
          </p:nvPr>
        </p:nvSpPr>
        <p:spPr>
          <a:xfrm>
            <a:off x="1484672" y="4247535"/>
            <a:ext cx="9665108" cy="2403987"/>
          </a:xfrm>
        </p:spPr>
        <p:txBody>
          <a:bodyPr>
            <a:normAutofit/>
          </a:bodyPr>
          <a:lstStyle/>
          <a:p>
            <a:endParaRPr lang="en-IN" dirty="0"/>
          </a:p>
          <a:p>
            <a:r>
              <a:rPr lang="en-IN" sz="1900" b="1" dirty="0">
                <a:latin typeface="Times New Roman" panose="02020603050405020304" pitchFamily="18" charset="0"/>
                <a:cs typeface="Times New Roman" panose="02020603050405020304" pitchFamily="18" charset="0"/>
              </a:rPr>
              <a:t>Department of CSE-</a:t>
            </a:r>
            <a:r>
              <a:rPr lang="en-IN" sz="1900" b="1" dirty="0" err="1">
                <a:latin typeface="Times New Roman" panose="02020603050405020304" pitchFamily="18" charset="0"/>
                <a:cs typeface="Times New Roman" panose="02020603050405020304" pitchFamily="18" charset="0"/>
              </a:rPr>
              <a:t>DataScience</a:t>
            </a:r>
            <a:endParaRPr lang="en-IN" sz="1900" b="1" dirty="0">
              <a:latin typeface="Times New Roman" panose="02020603050405020304" pitchFamily="18" charset="0"/>
              <a:cs typeface="Times New Roman" panose="02020603050405020304" pitchFamily="18" charset="0"/>
            </a:endParaRPr>
          </a:p>
          <a:p>
            <a:r>
              <a:rPr lang="en-IN" sz="1900" b="1" dirty="0" err="1">
                <a:latin typeface="Times New Roman" panose="02020603050405020304" pitchFamily="18" charset="0"/>
                <a:cs typeface="Times New Roman" panose="02020603050405020304" pitchFamily="18" charset="0"/>
              </a:rPr>
              <a:t>Sphoorthy</a:t>
            </a:r>
            <a:r>
              <a:rPr lang="en-IN" sz="1900" b="1" dirty="0">
                <a:latin typeface="Times New Roman" panose="02020603050405020304" pitchFamily="18" charset="0"/>
                <a:cs typeface="Times New Roman" panose="02020603050405020304" pitchFamily="18" charset="0"/>
              </a:rPr>
              <a:t> Engineering College</a:t>
            </a:r>
          </a:p>
          <a:p>
            <a:r>
              <a:rPr lang="en-IN" sz="1800" dirty="0">
                <a:latin typeface="Times New Roman" panose="02020603050405020304" pitchFamily="18" charset="0"/>
                <a:cs typeface="Times New Roman" panose="02020603050405020304" pitchFamily="18" charset="0"/>
              </a:rPr>
              <a:t>(Approved by AICTE &amp;Affiliated to JNTUH )</a:t>
            </a:r>
          </a:p>
          <a:p>
            <a:r>
              <a:rPr lang="en-IN" sz="1800" dirty="0" err="1">
                <a:latin typeface="Times New Roman" panose="02020603050405020304" pitchFamily="18" charset="0"/>
                <a:cs typeface="Times New Roman" panose="02020603050405020304" pitchFamily="18" charset="0"/>
              </a:rPr>
              <a:t>Nadergul</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SaroorNagar</a:t>
            </a:r>
            <a:r>
              <a:rPr lang="en-IN" sz="1800" dirty="0">
                <a:latin typeface="Times New Roman" panose="02020603050405020304" pitchFamily="18" charset="0"/>
                <a:cs typeface="Times New Roman" panose="02020603050405020304" pitchFamily="18" charset="0"/>
              </a:rPr>
              <a:t> Mandal , </a:t>
            </a:r>
            <a:r>
              <a:rPr lang="en-IN" sz="1800" dirty="0" err="1">
                <a:latin typeface="Times New Roman" panose="02020603050405020304" pitchFamily="18" charset="0"/>
                <a:cs typeface="Times New Roman" panose="02020603050405020304" pitchFamily="18" charset="0"/>
              </a:rPr>
              <a:t>Hyderbad</a:t>
            </a:r>
            <a:r>
              <a:rPr lang="en-IN" sz="1800" dirty="0">
                <a:latin typeface="Times New Roman" panose="02020603050405020304" pitchFamily="18" charset="0"/>
                <a:cs typeface="Times New Roman" panose="02020603050405020304" pitchFamily="18" charset="0"/>
              </a:rPr>
              <a:t> – 501510</a:t>
            </a:r>
          </a:p>
          <a:p>
            <a:r>
              <a:rPr lang="en-IN" sz="1800" dirty="0">
                <a:latin typeface="Times New Roman" panose="02020603050405020304" pitchFamily="18" charset="0"/>
                <a:cs typeface="Times New Roman" panose="02020603050405020304" pitchFamily="18" charset="0"/>
              </a:rPr>
              <a:t>Academic Year : 2024-2025</a:t>
            </a:r>
          </a:p>
        </p:txBody>
      </p:sp>
      <p:pic>
        <p:nvPicPr>
          <p:cNvPr id="5" name="Picture 4">
            <a:extLst>
              <a:ext uri="{FF2B5EF4-FFF2-40B4-BE49-F238E27FC236}">
                <a16:creationId xmlns:a16="http://schemas.microsoft.com/office/drawing/2014/main" id="{C8E32DBC-6025-DC66-1045-87FB36E36D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161" y="3320231"/>
            <a:ext cx="1489971" cy="1402326"/>
          </a:xfrm>
          <a:prstGeom prst="rect">
            <a:avLst/>
          </a:prstGeom>
        </p:spPr>
      </p:pic>
    </p:spTree>
    <p:extLst>
      <p:ext uri="{BB962C8B-B14F-4D97-AF65-F5344CB8AC3E}">
        <p14:creationId xmlns:p14="http://schemas.microsoft.com/office/powerpoint/2010/main" val="25561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4865-0207-8AA9-4B26-41CA6BF071F4}"/>
              </a:ext>
            </a:extLst>
          </p:cNvPr>
          <p:cNvSpPr>
            <a:spLocks noGrp="1"/>
          </p:cNvSpPr>
          <p:nvPr>
            <p:ph type="title"/>
          </p:nvPr>
        </p:nvSpPr>
        <p:spPr>
          <a:xfrm>
            <a:off x="612648" y="530942"/>
            <a:ext cx="10653578" cy="428507"/>
          </a:xfrm>
        </p:spPr>
        <p:txBody>
          <a:bodyPr>
            <a:normAutofit fontScale="90000"/>
          </a:bodyPr>
          <a:lstStyle/>
          <a:p>
            <a:pPr algn="ctr"/>
            <a:r>
              <a:rPr lang="en-US" sz="2200" b="1" dirty="0">
                <a:latin typeface="Times New Roman" panose="02020603050405020304" pitchFamily="18" charset="0"/>
                <a:cs typeface="Times New Roman" panose="02020603050405020304" pitchFamily="18" charset="0"/>
              </a:rPr>
              <a:t>Abstract</a:t>
            </a:r>
            <a:r>
              <a:rPr lang="en-US" sz="28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ADA2E79-F19F-A658-F09D-D01B067E6A79}"/>
              </a:ext>
            </a:extLst>
          </p:cNvPr>
          <p:cNvSpPr>
            <a:spLocks noGrp="1"/>
          </p:cNvSpPr>
          <p:nvPr>
            <p:ph idx="1"/>
          </p:nvPr>
        </p:nvSpPr>
        <p:spPr>
          <a:xfrm>
            <a:off x="612647" y="1154059"/>
            <a:ext cx="10653579" cy="5469458"/>
          </a:xfrm>
        </p:spPr>
        <p:txBody>
          <a:bodyPr vert="horz" lIns="91440" tIns="45720" rIns="91440" bIns="45720" rtlCol="0" anchor="t">
            <a:normAutofit/>
          </a:bodyPr>
          <a:lstStyle/>
          <a:p>
            <a:pPr marL="0" indent="0" algn="just">
              <a:buNone/>
            </a:pPr>
            <a:r>
              <a:rPr lang="en-US" sz="1800" dirty="0">
                <a:latin typeface="Times New Roman"/>
                <a:ea typeface="+mn-lt"/>
                <a:cs typeface="+mn-lt"/>
              </a:rPr>
              <a:t>Skin cancer, particularly melanoma, has a high mortality rate when detected at advanced stages, making early and accurate diagnosis essential. This study presents a deep learning-based system for automated skin cancer detection using </a:t>
            </a:r>
            <a:r>
              <a:rPr lang="en-US" sz="1800" dirty="0" err="1">
                <a:latin typeface="Times New Roman"/>
                <a:ea typeface="+mn-lt"/>
                <a:cs typeface="+mn-lt"/>
              </a:rPr>
              <a:t>dermascopic</a:t>
            </a:r>
            <a:r>
              <a:rPr lang="en-US" sz="1800" dirty="0">
                <a:latin typeface="Times New Roman"/>
                <a:ea typeface="+mn-lt"/>
                <a:cs typeface="+mn-lt"/>
              </a:rPr>
              <a:t> images. A convolutional neural network (CNN) was developed to classify skin lesions into benign and malignant categories, utilizing a large, publicly available dataset. Key preprocessing steps, including lesion segmentation, image enhancement, and data augmentation, were applied to improve the model’s accuracy and robustness. Transfer learning was incorporated to address the challenge of limited annotated data, allowing the model to leverage pre-trained weights from large-scale image classification tasks. The proposed model achieved superior performance in terms of accuracy, sensitivity, and specificity when compared to traditional diagnostic methods and existing machine learning approaches. This automated system significantly reduces the time required for diagnosis, assisting dermatologists in early detection and minimizing the risk of human error. Moreover, it offers a scalable solution for regions with limited access to dermatological expertise, enabling remote and cost-effective skin cancer screening. The study demonstrates the potential of AI-driven technologies to revolutionize skin cancer detection, ultimately contributing to improved patient outcomes through timely interventions.</a:t>
            </a:r>
            <a:endParaRPr lang="en-US" sz="1800" dirty="0">
              <a:latin typeface="Times New Roman"/>
              <a:cs typeface="Times New Roman"/>
            </a:endParaRPr>
          </a:p>
          <a:p>
            <a:pPr marL="0" indent="0" algn="just">
              <a:buNone/>
            </a:pPr>
            <a:r>
              <a:rPr lang="en-US" sz="1800" b="1" dirty="0">
                <a:latin typeface="Times New Roman"/>
                <a:cs typeface="Times New Roman"/>
              </a:rPr>
              <a:t>Keywords:   </a:t>
            </a:r>
            <a:r>
              <a:rPr lang="en-US" sz="1800" dirty="0">
                <a:latin typeface="Times New Roman"/>
                <a:ea typeface="+mn-lt"/>
                <a:cs typeface="+mn-lt"/>
              </a:rPr>
              <a:t>Skin cancer detection , Melanoma diagnosis, Deep learning, Convolutional neural network (CNN).</a:t>
            </a:r>
            <a:endParaRPr lang="en-US" sz="1800" dirty="0">
              <a:latin typeface="Times New Roman"/>
              <a:cs typeface="Times New Roman"/>
            </a:endParaRPr>
          </a:p>
          <a:p>
            <a:pPr marL="0" indent="0" algn="just">
              <a:buNone/>
            </a:pPr>
            <a:br>
              <a:rPr lang="en-US" dirty="0"/>
            </a:br>
            <a:endParaRPr lang="en-US" sz="1800" dirty="0">
              <a:latin typeface="Times New Roman"/>
              <a:cs typeface="Times New Roman"/>
            </a:endParaRPr>
          </a:p>
        </p:txBody>
      </p:sp>
      <p:sp>
        <p:nvSpPr>
          <p:cNvPr id="4" name="Date Placeholder 3">
            <a:extLst>
              <a:ext uri="{FF2B5EF4-FFF2-40B4-BE49-F238E27FC236}">
                <a16:creationId xmlns:a16="http://schemas.microsoft.com/office/drawing/2014/main" id="{34912E92-5DF8-3F5F-7351-E8D21D15464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2FE7122-5DC3-163F-D238-93EA03BC4E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158864A-AABC-C078-DA4D-407819BAEDD8}"/>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10373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8F366-6915-D92A-3D9D-FF595E59CD69}"/>
              </a:ext>
            </a:extLst>
          </p:cNvPr>
          <p:cNvSpPr>
            <a:spLocks noGrp="1"/>
          </p:cNvSpPr>
          <p:nvPr>
            <p:ph type="title"/>
          </p:nvPr>
        </p:nvSpPr>
        <p:spPr>
          <a:xfrm>
            <a:off x="838200" y="176981"/>
            <a:ext cx="10515600" cy="589935"/>
          </a:xfrm>
        </p:spPr>
        <p:txBody>
          <a:bodyPr>
            <a:normAutofit/>
          </a:bodyPr>
          <a:lstStyle/>
          <a:p>
            <a:pPr algn="ctr"/>
            <a:r>
              <a:rPr lang="en-US" sz="2000" b="1" dirty="0">
                <a:latin typeface="Times New Roman" panose="02020603050405020304" pitchFamily="18" charset="0"/>
                <a:cs typeface="Times New Roman" panose="02020603050405020304" pitchFamily="18" charset="0"/>
              </a:rPr>
              <a:t>INTRODUCTION </a:t>
            </a: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A93B2E-1B0C-1D4A-4C72-B799395FE8F9}"/>
              </a:ext>
            </a:extLst>
          </p:cNvPr>
          <p:cNvSpPr>
            <a:spLocks noGrp="1"/>
          </p:cNvSpPr>
          <p:nvPr>
            <p:ph idx="1"/>
          </p:nvPr>
        </p:nvSpPr>
        <p:spPr>
          <a:xfrm>
            <a:off x="838200" y="924232"/>
            <a:ext cx="10515600" cy="5252731"/>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Skin cancer is one of the most common types of cancer all over the world. The most common cause is excessive exposure of the skin to UV rays from the sun . Fair-skinned, sun-sensitive people have a higher rate of UV exposure than dark-skinned people who are less sensitive to the sun . There are various types of skin cancer. Among them, melanoma skin cancer is the most common and dangerous type of cancer. It involves an abnormal proliferation of pigment cells in the skin. It is a common life-threatening disease in humans. It brightens the skin and can quickly spread to other areas body . Therefore, early detection of melanoma is essential. Invasive melanoma accounts for approximately 1% of all skin cancer cases but contributes to most skin cancer deaths. The incidence of melanoma skin cancer has increased rapidly over the past 30 years. In 2021, it was estimated that 100,350 new cases of melanoma were diagnosed in the United States, ultimately resulting in about 6,850 deaths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Skin cancer is a significant public health issue, and early detection is paramount for successful treatment. Traditional diagnosis often relies on visual examination by dermatologists, which can be subjective and time-consuming. This project investigates the application of Convolutional Neural Networks (CNNs) to automate the process of skin cancer detection. By leveraging the power of deep learning, we aim to develop a model that can accurately classify skin lesions as benign or malignant based on [Image type - e.g., </a:t>
            </a:r>
            <a:r>
              <a:rPr lang="en-US" sz="1800" dirty="0" err="1">
                <a:latin typeface="Times New Roman" panose="02020603050405020304" pitchFamily="18" charset="0"/>
                <a:cs typeface="Times New Roman" panose="02020603050405020304" pitchFamily="18" charset="0"/>
              </a:rPr>
              <a:t>dermoscopic</a:t>
            </a:r>
            <a:r>
              <a:rPr lang="en-US" sz="1800" dirty="0">
                <a:latin typeface="Times New Roman" panose="02020603050405020304" pitchFamily="18" charset="0"/>
                <a:cs typeface="Times New Roman" panose="02020603050405020304" pitchFamily="18" charset="0"/>
              </a:rPr>
              <a:t> images, clinical photographs]. Our CNN architecture will learn intricate patterns and features within the images, enabling more objective and potentially more accurate diagnoses. This project has the potential to assist dermatologists in their clinical practice, improve diagnostic efficiency, and enhance patient outcomes.</a:t>
            </a:r>
          </a:p>
          <a:p>
            <a:pPr marL="0" indent="0">
              <a:buNone/>
            </a:pPr>
            <a:endParaRPr lang="en-IN" sz="1100" dirty="0"/>
          </a:p>
        </p:txBody>
      </p:sp>
    </p:spTree>
    <p:extLst>
      <p:ext uri="{BB962C8B-B14F-4D97-AF65-F5344CB8AC3E}">
        <p14:creationId xmlns:p14="http://schemas.microsoft.com/office/powerpoint/2010/main" val="80479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51922-1EE1-1668-6E8A-745BD4F67551}"/>
              </a:ext>
            </a:extLst>
          </p:cNvPr>
          <p:cNvSpPr>
            <a:spLocks noGrp="1"/>
          </p:cNvSpPr>
          <p:nvPr>
            <p:ph type="title"/>
          </p:nvPr>
        </p:nvSpPr>
        <p:spPr>
          <a:xfrm>
            <a:off x="838200" y="255639"/>
            <a:ext cx="10515600" cy="934063"/>
          </a:xfrm>
        </p:spPr>
        <p:txBody>
          <a:bodyPr>
            <a:normAutofit fontScale="90000"/>
          </a:bodyPr>
          <a:lstStyle/>
          <a:p>
            <a:pPr algn="ctr"/>
            <a:br>
              <a:rPr lang="en-IN" sz="1800" b="1" dirty="0">
                <a:effectLst/>
                <a:latin typeface="+mn-lt"/>
              </a:rPr>
            </a:br>
            <a:br>
              <a:rPr lang="en-IN" sz="1800" b="1" dirty="0">
                <a:effectLst/>
                <a:latin typeface="+mn-lt"/>
              </a:rPr>
            </a:br>
            <a:r>
              <a:rPr lang="en-IN" sz="2200" b="1" dirty="0">
                <a:effectLst/>
                <a:latin typeface="Times New Roman" panose="02020603050405020304" pitchFamily="18" charset="0"/>
                <a:cs typeface="Times New Roman" panose="02020603050405020304" pitchFamily="18" charset="0"/>
              </a:rPr>
              <a:t>LITERATURE SURVEY</a:t>
            </a:r>
            <a:br>
              <a:rPr lang="en-IN" dirty="0"/>
            </a:br>
            <a:endParaRPr lang="en-IN" dirty="0"/>
          </a:p>
        </p:txBody>
      </p:sp>
      <p:sp>
        <p:nvSpPr>
          <p:cNvPr id="3" name="Content Placeholder 2">
            <a:extLst>
              <a:ext uri="{FF2B5EF4-FFF2-40B4-BE49-F238E27FC236}">
                <a16:creationId xmlns:a16="http://schemas.microsoft.com/office/drawing/2014/main" id="{A70E30A1-5F12-37E2-2442-E22DFDCE426D}"/>
              </a:ext>
            </a:extLst>
          </p:cNvPr>
          <p:cNvSpPr>
            <a:spLocks noGrp="1"/>
          </p:cNvSpPr>
          <p:nvPr>
            <p:ph idx="1"/>
          </p:nvPr>
        </p:nvSpPr>
        <p:spPr>
          <a:xfrm>
            <a:off x="838200" y="1189703"/>
            <a:ext cx="10515600" cy="4987260"/>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1. Skin Cancer Detection utilizing Deep Learning: Classification of Skin Lesion Images using a Vision Transformer</a:t>
            </a:r>
          </a:p>
          <a:p>
            <a:pPr marL="0" indent="0" algn="just">
              <a:buNone/>
            </a:pPr>
            <a:r>
              <a:rPr lang="en-IN" sz="1800" b="1" dirty="0">
                <a:latin typeface="Times New Roman" panose="02020603050405020304" pitchFamily="18" charset="0"/>
                <a:cs typeface="Times New Roman" panose="02020603050405020304" pitchFamily="18" charset="0"/>
              </a:rPr>
              <a:t>Publisher by :  </a:t>
            </a:r>
            <a:r>
              <a:rPr lang="en-IN" sz="1800" dirty="0">
                <a:latin typeface="Times New Roman" panose="02020603050405020304" pitchFamily="18" charset="0"/>
                <a:cs typeface="Times New Roman" panose="02020603050405020304" pitchFamily="18" charset="0"/>
              </a:rPr>
              <a:t>Carolin </a:t>
            </a:r>
            <a:r>
              <a:rPr lang="en-IN" sz="1800" dirty="0" err="1">
                <a:latin typeface="Times New Roman" panose="02020603050405020304" pitchFamily="18" charset="0"/>
                <a:cs typeface="Times New Roman" panose="02020603050405020304" pitchFamily="18" charset="0"/>
              </a:rPr>
              <a:t>Flosdorf</a:t>
            </a:r>
            <a:r>
              <a:rPr lang="en-IN" sz="1800" dirty="0">
                <a:latin typeface="Times New Roman" panose="02020603050405020304" pitchFamily="18" charset="0"/>
                <a:cs typeface="Times New Roman" panose="02020603050405020304" pitchFamily="18" charset="0"/>
              </a:rPr>
              <a:t>, Justin </a:t>
            </a:r>
            <a:r>
              <a:rPr lang="en-IN" sz="1800" dirty="0" err="1">
                <a:latin typeface="Times New Roman" panose="02020603050405020304" pitchFamily="18" charset="0"/>
                <a:cs typeface="Times New Roman" panose="02020603050405020304" pitchFamily="18" charset="0"/>
              </a:rPr>
              <a:t>Engelker</a:t>
            </a:r>
            <a:r>
              <a:rPr lang="en-IN" sz="1800" dirty="0">
                <a:latin typeface="Times New Roman" panose="02020603050405020304" pitchFamily="18" charset="0"/>
                <a:cs typeface="Times New Roman" panose="02020603050405020304" pitchFamily="18" charset="0"/>
              </a:rPr>
              <a:t>, Igor Keller, Nicolas Mohr. </a:t>
            </a:r>
            <a:r>
              <a:rPr lang="en-IN" sz="1800" b="1" dirty="0">
                <a:latin typeface="Times New Roman" panose="02020603050405020304" pitchFamily="18" charset="0"/>
                <a:cs typeface="Times New Roman" panose="02020603050405020304" pitchFamily="18" charset="0"/>
              </a:rPr>
              <a:t>Published Date: </a:t>
            </a:r>
            <a:r>
              <a:rPr lang="en-IN" sz="1800" dirty="0">
                <a:latin typeface="Times New Roman" panose="02020603050405020304" pitchFamily="18" charset="0"/>
                <a:cs typeface="Times New Roman" panose="02020603050405020304" pitchFamily="18" charset="0"/>
              </a:rPr>
              <a:t>2024 </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This project aims to improve skin cancer detection using Vision Transformers (</a:t>
            </a:r>
            <a:r>
              <a:rPr lang="en-US" sz="1800" dirty="0" err="1">
                <a:latin typeface="Times New Roman" panose="02020603050405020304" pitchFamily="18" charset="0"/>
                <a:cs typeface="Times New Roman" panose="02020603050405020304" pitchFamily="18" charset="0"/>
              </a:rPr>
              <a:t>ViTs</a:t>
            </a:r>
            <a:r>
              <a:rPr lang="en-US" sz="1800" dirty="0">
                <a:latin typeface="Times New Roman" panose="02020603050405020304" pitchFamily="18" charset="0"/>
                <a:cs typeface="Times New Roman" panose="02020603050405020304" pitchFamily="18" charset="0"/>
              </a:rPr>
              <a:t>), a deep-learning architecture. By comparing </a:t>
            </a:r>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 models with traditional models such as CNNs, decision trees, and k-nearest neighbors, the study aims to enhance the accuracy of classifying different skin lesions, particularly melanoma. The research highlights the potential of </a:t>
            </a:r>
            <a:r>
              <a:rPr lang="en-US" sz="1800" dirty="0" err="1">
                <a:latin typeface="Times New Roman" panose="02020603050405020304" pitchFamily="18" charset="0"/>
                <a:cs typeface="Times New Roman" panose="02020603050405020304" pitchFamily="18" charset="0"/>
              </a:rPr>
              <a:t>ViTs</a:t>
            </a:r>
            <a:r>
              <a:rPr lang="en-US" sz="1800" dirty="0">
                <a:latin typeface="Times New Roman" panose="02020603050405020304" pitchFamily="18" charset="0"/>
                <a:cs typeface="Times New Roman" panose="02020603050405020304" pitchFamily="18" charset="0"/>
              </a:rPr>
              <a:t> to offer faster and more accurate diagnoses, especially in healthcare settings with limited access to dermatologists​.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IN" sz="1800" b="1" dirty="0">
                <a:latin typeface="Times New Roman" panose="02020603050405020304" pitchFamily="18" charset="0"/>
                <a:cs typeface="Times New Roman" panose="02020603050405020304" pitchFamily="18" charset="0"/>
              </a:rPr>
              <a:t>2.Skin Cancer Images Classification using Transfer Learning Techniques </a:t>
            </a:r>
          </a:p>
          <a:p>
            <a:pPr marL="0" indent="0" algn="just">
              <a:buNone/>
            </a:pPr>
            <a:r>
              <a:rPr lang="en-US" sz="1800" b="1" dirty="0">
                <a:latin typeface="Times New Roman" panose="02020603050405020304" pitchFamily="18" charset="0"/>
                <a:cs typeface="Times New Roman" panose="02020603050405020304" pitchFamily="18" charset="0"/>
              </a:rPr>
              <a:t>Publisher by : </a:t>
            </a:r>
            <a:r>
              <a:rPr lang="en-IN" sz="1800" dirty="0" err="1">
                <a:latin typeface="Times New Roman" panose="02020603050405020304" pitchFamily="18" charset="0"/>
                <a:cs typeface="Times New Roman" panose="02020603050405020304" pitchFamily="18" charset="0"/>
              </a:rPr>
              <a:t>MdSirajul</a:t>
            </a:r>
            <a:r>
              <a:rPr lang="en-IN" sz="1800" dirty="0">
                <a:latin typeface="Times New Roman" panose="02020603050405020304" pitchFamily="18" charset="0"/>
                <a:cs typeface="Times New Roman" panose="02020603050405020304" pitchFamily="18" charset="0"/>
              </a:rPr>
              <a:t> Islam &amp; Sanjeev </a:t>
            </a:r>
            <a:r>
              <a:rPr lang="en-IN" sz="1800" dirty="0" err="1">
                <a:latin typeface="Times New Roman" panose="02020603050405020304" pitchFamily="18" charset="0"/>
                <a:cs typeface="Times New Roman" panose="02020603050405020304" pitchFamily="18" charset="0"/>
              </a:rPr>
              <a:t>Panta</a:t>
            </a:r>
            <a:r>
              <a:rPr lang="en-IN" sz="1800" b="1" dirty="0">
                <a:latin typeface="Times New Roman" panose="02020603050405020304" pitchFamily="18" charset="0"/>
                <a:cs typeface="Times New Roman" panose="02020603050405020304" pitchFamily="18" charset="0"/>
              </a:rPr>
              <a:t>. Published Date</a:t>
            </a:r>
            <a:r>
              <a:rPr lang="en-IN" sz="1800" dirty="0">
                <a:latin typeface="Times New Roman" panose="02020603050405020304" pitchFamily="18" charset="0"/>
                <a:cs typeface="Times New Roman" panose="02020603050405020304" pitchFamily="18" charset="0"/>
              </a:rPr>
              <a:t>: 18 Jun 2024</a:t>
            </a:r>
            <a:endParaRPr lang="en-US" sz="1800" b="1"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This project  focuses on using transfer learning techniques to classify skin cancer images as benign or malignant. It aims to improve the performance of skin cancer detection by fine-tuning pre-trained deep learning models like ResNet-50, </a:t>
            </a:r>
            <a:r>
              <a:rPr lang="en-US" sz="1800" dirty="0" err="1">
                <a:latin typeface="Times New Roman" panose="02020603050405020304" pitchFamily="18" charset="0"/>
                <a:cs typeface="Times New Roman" panose="02020603050405020304" pitchFamily="18" charset="0"/>
              </a:rPr>
              <a:t>MobileNet</a:t>
            </a:r>
            <a:r>
              <a:rPr lang="en-US" sz="1800" dirty="0">
                <a:latin typeface="Times New Roman" panose="02020603050405020304" pitchFamily="18" charset="0"/>
                <a:cs typeface="Times New Roman" panose="02020603050405020304" pitchFamily="18" charset="0"/>
              </a:rPr>
              <a:t>, and InceptionV3. The goal is to achieve higher accuracy, precision, and recall for early detection of skin cancer, particularly melanoma, using a publicly available dataset​.</a:t>
            </a:r>
          </a:p>
        </p:txBody>
      </p:sp>
    </p:spTree>
    <p:extLst>
      <p:ext uri="{BB962C8B-B14F-4D97-AF65-F5344CB8AC3E}">
        <p14:creationId xmlns:p14="http://schemas.microsoft.com/office/powerpoint/2010/main" val="104992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0F53-3A4E-3166-F6DC-E4619D740D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4A05FA-2C23-6BD3-DAEB-1C285DCCBAE6}"/>
              </a:ext>
            </a:extLst>
          </p:cNvPr>
          <p:cNvSpPr>
            <a:spLocks noGrp="1"/>
          </p:cNvSpPr>
          <p:nvPr>
            <p:ph idx="1"/>
          </p:nvPr>
        </p:nvSpPr>
        <p:spPr>
          <a:xfrm>
            <a:off x="838200" y="1111045"/>
            <a:ext cx="10515600" cy="5065918"/>
          </a:xfrm>
        </p:spPr>
        <p:txBody>
          <a:bodyPr>
            <a:normAutofit/>
          </a:bodyPr>
          <a:lstStyle/>
          <a:p>
            <a:pPr marL="0" indent="0" algn="just">
              <a:buNone/>
            </a:pPr>
            <a:r>
              <a:rPr lang="en-IN" sz="1800" b="1" dirty="0">
                <a:latin typeface="Times New Roman" panose="02020603050405020304" pitchFamily="18" charset="0"/>
                <a:cs typeface="Times New Roman" panose="02020603050405020304" pitchFamily="18" charset="0"/>
              </a:rPr>
              <a:t>3.SKIN CANCER </a:t>
            </a:r>
          </a:p>
          <a:p>
            <a:pPr marL="0" indent="0" algn="just">
              <a:buNone/>
            </a:pPr>
            <a:r>
              <a:rPr lang="en-IN" sz="1800" b="1" dirty="0">
                <a:latin typeface="Times New Roman" panose="02020603050405020304" pitchFamily="18" charset="0"/>
                <a:cs typeface="Times New Roman" panose="02020603050405020304" pitchFamily="18" charset="0"/>
              </a:rPr>
              <a:t>Publisher by : </a:t>
            </a:r>
            <a:r>
              <a:rPr lang="en-IN" sz="1800" dirty="0">
                <a:latin typeface="Times New Roman" panose="02020603050405020304" pitchFamily="18" charset="0"/>
                <a:cs typeface="Times New Roman" panose="02020603050405020304" pitchFamily="18" charset="0"/>
              </a:rPr>
              <a:t>Apple </a:t>
            </a:r>
            <a:r>
              <a:rPr lang="en-IN" sz="1800" dirty="0" err="1">
                <a:latin typeface="Times New Roman" panose="02020603050405020304" pitchFamily="18" charset="0"/>
                <a:cs typeface="Times New Roman" panose="02020603050405020304" pitchFamily="18" charset="0"/>
              </a:rPr>
              <a:t>Bodemer</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Publisher Date: </a:t>
            </a:r>
            <a:r>
              <a:rPr lang="en-IN" sz="1800" dirty="0">
                <a:latin typeface="Times New Roman" panose="02020603050405020304" pitchFamily="18" charset="0"/>
                <a:cs typeface="Times New Roman" panose="02020603050405020304" pitchFamily="18" charset="0"/>
              </a:rPr>
              <a:t>2014, updated 2020.</a:t>
            </a:r>
          </a:p>
          <a:p>
            <a:pPr marL="0" indent="0" algn="just">
              <a:buNone/>
            </a:pPr>
            <a:r>
              <a:rPr lang="en-US" sz="1800" dirty="0">
                <a:latin typeface="Times New Roman" panose="02020603050405020304" pitchFamily="18" charset="0"/>
                <a:cs typeface="Times New Roman" panose="02020603050405020304" pitchFamily="18" charset="0"/>
              </a:rPr>
              <a:t>The main objective of this project  is to provide an overview of </a:t>
            </a:r>
            <a:r>
              <a:rPr lang="en-US" sz="1800" b="1" dirty="0">
                <a:latin typeface="Times New Roman" panose="02020603050405020304" pitchFamily="18" charset="0"/>
                <a:cs typeface="Times New Roman" panose="02020603050405020304" pitchFamily="18" charset="0"/>
              </a:rPr>
              <a:t>skin cancer</a:t>
            </a:r>
            <a:r>
              <a:rPr lang="en-US" sz="1800" dirty="0">
                <a:latin typeface="Times New Roman" panose="02020603050405020304" pitchFamily="18" charset="0"/>
                <a:cs typeface="Times New Roman" panose="02020603050405020304" pitchFamily="18" charset="0"/>
              </a:rPr>
              <a:t>, its types (melanoma and nonmelanoma), risk factors, prevention strategies, and treatment options. It emphasizes the importance of early detection and preventive measures, such as minimizing UV exposure, practicing regular skin self-examinations, and adopting a healthy diet rich in plant-based foods and antioxidants. The paper also explores the potential benefits of various natural compounds, vitamins, and botanicals like omega-3 fatty acids, beta-carotene, green tea, and curcumin in the prevention and management of skin cancer​</a:t>
            </a:r>
            <a:r>
              <a:rPr lang="en-IN" sz="1800" b="1"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247493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53E61-E1E8-F8A4-5784-4B8864C1E986}"/>
              </a:ext>
            </a:extLst>
          </p:cNvPr>
          <p:cNvSpPr>
            <a:spLocks noGrp="1"/>
          </p:cNvSpPr>
          <p:nvPr>
            <p:ph type="title"/>
          </p:nvPr>
        </p:nvSpPr>
        <p:spPr>
          <a:xfrm>
            <a:off x="838200" y="365125"/>
            <a:ext cx="10515600" cy="863907"/>
          </a:xfrm>
        </p:spPr>
        <p:txBody>
          <a:bodyPr>
            <a:normAutofit/>
          </a:bodyPr>
          <a:lstStyle/>
          <a:p>
            <a:pPr algn="ctr"/>
            <a:r>
              <a:rPr lang="en-US" sz="2000" b="1" dirty="0">
                <a:latin typeface="Times New Roman" panose="02020603050405020304" pitchFamily="18" charset="0"/>
                <a:cs typeface="Times New Roman" panose="02020603050405020304" pitchFamily="18" charset="0"/>
              </a:rPr>
              <a:t>EXISTING SYSTEM</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8C411C-9270-93F0-6F35-228F653225AD}"/>
              </a:ext>
            </a:extLst>
          </p:cNvPr>
          <p:cNvSpPr>
            <a:spLocks noGrp="1"/>
          </p:cNvSpPr>
          <p:nvPr>
            <p:ph idx="1"/>
          </p:nvPr>
        </p:nvSpPr>
        <p:spPr>
          <a:xfrm>
            <a:off x="838200" y="1160206"/>
            <a:ext cx="10515600" cy="5016757"/>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Previous research demonstrates how convolutional neural networks (CNNs) can help effectively through both automation and an accuracy that is comparable to the human level. However, despite the progress in previous decades, the precision is still limited, leading to substantial misclassifications that have a serious impact on people’s health. Hence, we employ a Vision Transformer (</a:t>
            </a:r>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 that has been developed in recent years based on the idea of a self-attention mechanism, specifically two configurations of a pre-trained </a:t>
            </a:r>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Previously published papers of year 2024 and 2020 was taken as the reference and observed that, there approaches have given good results . But all they worked on the improvement of the patient outcome based on historical data and other worked on implementing various techniques. The work performed by previous users was not that satisfactory. We have found where the area where the actual problems occurred and mentioned them below as disadvantages.</a:t>
            </a:r>
          </a:p>
          <a:p>
            <a:pPr algn="just"/>
            <a:r>
              <a:rPr lang="en-US" sz="1800" dirty="0">
                <a:latin typeface="Times New Roman" panose="02020603050405020304" pitchFamily="18" charset="0"/>
                <a:cs typeface="Times New Roman" panose="02020603050405020304" pitchFamily="18" charset="0"/>
              </a:rPr>
              <a:t>Lack of real time applications testing</a:t>
            </a:r>
          </a:p>
          <a:p>
            <a:pPr algn="just"/>
            <a:r>
              <a:rPr lang="en-US" sz="1800" dirty="0">
                <a:latin typeface="Times New Roman" panose="02020603050405020304" pitchFamily="18" charset="0"/>
                <a:cs typeface="Times New Roman" panose="02020603050405020304" pitchFamily="18" charset="0"/>
              </a:rPr>
              <a:t>Computational complexity and Training time</a:t>
            </a:r>
          </a:p>
          <a:p>
            <a:pPr algn="just"/>
            <a:r>
              <a:rPr lang="en-US" sz="1800" dirty="0">
                <a:latin typeface="Times New Roman" panose="02020603050405020304" pitchFamily="18" charset="0"/>
                <a:cs typeface="Times New Roman" panose="02020603050405020304" pitchFamily="18" charset="0"/>
              </a:rPr>
              <a:t>Overfitting on small</a:t>
            </a:r>
          </a:p>
          <a:p>
            <a:endParaRPr lang="en-IN" dirty="0"/>
          </a:p>
        </p:txBody>
      </p:sp>
    </p:spTree>
    <p:extLst>
      <p:ext uri="{BB962C8B-B14F-4D97-AF65-F5344CB8AC3E}">
        <p14:creationId xmlns:p14="http://schemas.microsoft.com/office/powerpoint/2010/main" val="81187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93615-E448-D623-774A-68A6CB2E53C6}"/>
              </a:ext>
            </a:extLst>
          </p:cNvPr>
          <p:cNvSpPr>
            <a:spLocks noGrp="1"/>
          </p:cNvSpPr>
          <p:nvPr>
            <p:ph type="title"/>
          </p:nvPr>
        </p:nvSpPr>
        <p:spPr>
          <a:xfrm>
            <a:off x="838200" y="365126"/>
            <a:ext cx="10515600" cy="529610"/>
          </a:xfrm>
        </p:spPr>
        <p:txBody>
          <a:bodyPr>
            <a:normAutofit/>
          </a:bodyPr>
          <a:lstStyle/>
          <a:p>
            <a:pPr algn="ctr"/>
            <a:r>
              <a:rPr lang="en-US" sz="2000" b="1" dirty="0">
                <a:latin typeface="Times New Roman" panose="02020603050405020304" pitchFamily="18" charset="0"/>
                <a:cs typeface="Times New Roman" panose="02020603050405020304" pitchFamily="18" charset="0"/>
              </a:rPr>
              <a:t>PROPOSED  SYSTEM</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2327A2-BDFA-B284-519B-71F338F8AACC}"/>
              </a:ext>
            </a:extLst>
          </p:cNvPr>
          <p:cNvSpPr>
            <a:spLocks noGrp="1"/>
          </p:cNvSpPr>
          <p:nvPr>
            <p:ph idx="1"/>
          </p:nvPr>
        </p:nvSpPr>
        <p:spPr>
          <a:xfrm>
            <a:off x="838200" y="894736"/>
            <a:ext cx="10515600" cy="5889522"/>
          </a:xfrm>
        </p:spPr>
        <p:txBody>
          <a:bodyPr>
            <a:normAutofit fontScale="92500" lnSpcReduction="10000"/>
          </a:bodyPr>
          <a:lstStyle/>
          <a:p>
            <a:pPr marL="0" indent="0" algn="just">
              <a:buNone/>
            </a:pPr>
            <a:r>
              <a:rPr lang="en-US" sz="1900" dirty="0">
                <a:latin typeface="Times New Roman" panose="02020603050405020304" pitchFamily="18" charset="0"/>
                <a:cs typeface="Times New Roman" panose="02020603050405020304" pitchFamily="18" charset="0"/>
              </a:rPr>
              <a:t>The proposed system leverages Convolutional Neural Networks (CNNs) to classify skin cancer images into two categories: </a:t>
            </a:r>
            <a:r>
              <a:rPr lang="en-US" sz="1900" b="1" dirty="0">
                <a:latin typeface="Times New Roman" panose="02020603050405020304" pitchFamily="18" charset="0"/>
                <a:cs typeface="Times New Roman" panose="02020603050405020304" pitchFamily="18" charset="0"/>
              </a:rPr>
              <a:t>benign</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malignant</a:t>
            </a:r>
            <a:r>
              <a:rPr lang="en-US" sz="1900" dirty="0">
                <a:latin typeface="Times New Roman" panose="02020603050405020304" pitchFamily="18" charset="0"/>
                <a:cs typeface="Times New Roman" panose="02020603050405020304" pitchFamily="18" charset="0"/>
              </a:rPr>
              <a:t>. The system aims to provide an automated, accurate, and efficient solution to assist dermatologists in early skin cancer detection, potentially saving lives through timely diagnosis.</a:t>
            </a:r>
          </a:p>
          <a:p>
            <a:pPr marL="0" indent="0" algn="just">
              <a:buNone/>
            </a:pPr>
            <a:r>
              <a:rPr lang="en-US" sz="1900" b="1" dirty="0">
                <a:latin typeface="Times New Roman" panose="02020603050405020304" pitchFamily="18" charset="0"/>
                <a:cs typeface="Times New Roman" panose="02020603050405020304" pitchFamily="18" charset="0"/>
              </a:rPr>
              <a:t>Dataset Preparation</a:t>
            </a:r>
          </a:p>
          <a:p>
            <a:pPr algn="just"/>
            <a:r>
              <a:rPr lang="en-US" sz="1900" dirty="0">
                <a:latin typeface="Times New Roman" panose="02020603050405020304" pitchFamily="18" charset="0"/>
                <a:cs typeface="Times New Roman" panose="02020603050405020304" pitchFamily="18" charset="0"/>
              </a:rPr>
              <a:t>The dataset is structured into separate directories for training and validation, with images categorized by labels (e.g., benign and malignant). Data preprocessing includes:</a:t>
            </a:r>
          </a:p>
          <a:p>
            <a:pPr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Rescaling</a:t>
            </a:r>
            <a:r>
              <a:rPr lang="en-US" sz="1900" dirty="0">
                <a:latin typeface="Times New Roman" panose="02020603050405020304" pitchFamily="18" charset="0"/>
                <a:cs typeface="Times New Roman" panose="02020603050405020304" pitchFamily="18" charset="0"/>
              </a:rPr>
              <a:t>: Images are normalized to pixel values between 0 and 1.</a:t>
            </a:r>
          </a:p>
          <a:p>
            <a:pPr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Data Augmentation</a:t>
            </a:r>
            <a:r>
              <a:rPr lang="en-US" sz="1900" dirty="0">
                <a:latin typeface="Times New Roman" panose="02020603050405020304" pitchFamily="18" charset="0"/>
                <a:cs typeface="Times New Roman" panose="02020603050405020304" pitchFamily="18" charset="0"/>
              </a:rPr>
              <a:t>: Techniques such as rotation, zooming, shifting, and flipping are applied to enhance model generalization and reduce overfitting.</a:t>
            </a:r>
          </a:p>
          <a:p>
            <a:pPr marL="0" indent="0" algn="just">
              <a:buNone/>
            </a:pPr>
            <a:r>
              <a:rPr lang="en-IN" sz="1900" b="1" dirty="0">
                <a:latin typeface="Times New Roman" panose="02020603050405020304" pitchFamily="18" charset="0"/>
                <a:cs typeface="Times New Roman" panose="02020603050405020304" pitchFamily="18" charset="0"/>
              </a:rPr>
              <a:t>Model Details</a:t>
            </a:r>
          </a:p>
          <a:p>
            <a:pPr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Input size: 128x128 pixels with 3 </a:t>
            </a:r>
            <a:r>
              <a:rPr lang="en-IN" sz="1900" dirty="0" err="1">
                <a:latin typeface="Times New Roman" panose="02020603050405020304" pitchFamily="18" charset="0"/>
                <a:cs typeface="Times New Roman" panose="02020603050405020304" pitchFamily="18" charset="0"/>
              </a:rPr>
              <a:t>color</a:t>
            </a:r>
            <a:r>
              <a:rPr lang="en-IN" sz="1900" dirty="0">
                <a:latin typeface="Times New Roman" panose="02020603050405020304" pitchFamily="18" charset="0"/>
                <a:cs typeface="Times New Roman" panose="02020603050405020304" pitchFamily="18" charset="0"/>
              </a:rPr>
              <a:t> channels (RGB).</a:t>
            </a:r>
          </a:p>
          <a:p>
            <a:pPr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Layers:</a:t>
            </a:r>
          </a:p>
          <a:p>
            <a:pPr marL="742950" lvl="1"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3 convolutional layers with 32, 64, and 128 filters respectively.</a:t>
            </a:r>
          </a:p>
          <a:p>
            <a:pPr marL="742950" lvl="1"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3 max-pooling layers for spatial reduction.</a:t>
            </a:r>
          </a:p>
          <a:p>
            <a:pPr marL="742950" lvl="1"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A dense layer with 128 neurons and </a:t>
            </a:r>
            <a:r>
              <a:rPr lang="en-IN" sz="1900" dirty="0" err="1">
                <a:latin typeface="Times New Roman" panose="02020603050405020304" pitchFamily="18" charset="0"/>
                <a:cs typeface="Times New Roman" panose="02020603050405020304" pitchFamily="18" charset="0"/>
              </a:rPr>
              <a:t>ReLU</a:t>
            </a:r>
            <a:r>
              <a:rPr lang="en-IN" sz="1900" dirty="0">
                <a:latin typeface="Times New Roman" panose="02020603050405020304" pitchFamily="18" charset="0"/>
                <a:cs typeface="Times New Roman" panose="02020603050405020304" pitchFamily="18" charset="0"/>
              </a:rPr>
              <a:t> activation.</a:t>
            </a:r>
          </a:p>
          <a:p>
            <a:pPr marL="742950" lvl="1" indent="-285750"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A final dense layer with 1 neuron and sigmoid activation for binary classification.</a:t>
            </a:r>
          </a:p>
          <a:p>
            <a:pPr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Loss Function: Binary Cross-Entropy</a:t>
            </a:r>
          </a:p>
          <a:p>
            <a:pPr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Optimizer: Adam</a:t>
            </a:r>
          </a:p>
          <a:p>
            <a:pPr algn="jus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Metrics: Accuracy</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238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0C8E8-CC31-2F5D-D19B-16C89528E2C9}"/>
              </a:ext>
            </a:extLst>
          </p:cNvPr>
          <p:cNvSpPr>
            <a:spLocks noGrp="1"/>
          </p:cNvSpPr>
          <p:nvPr>
            <p:ph type="title"/>
          </p:nvPr>
        </p:nvSpPr>
        <p:spPr>
          <a:xfrm>
            <a:off x="838200" y="365125"/>
            <a:ext cx="10515600" cy="559107"/>
          </a:xfrm>
        </p:spPr>
        <p:txBody>
          <a:bodyPr>
            <a:normAutofit/>
          </a:bodyPr>
          <a:lstStyle/>
          <a:p>
            <a:pPr algn="ctr"/>
            <a:r>
              <a:rPr lang="en-US" sz="2000" b="1" dirty="0">
                <a:latin typeface="Times New Roman" panose="02020603050405020304" pitchFamily="18" charset="0"/>
                <a:ea typeface="+mj-lt"/>
                <a:cs typeface="Times New Roman" panose="02020603050405020304" pitchFamily="18" charset="0"/>
              </a:rPr>
              <a:t>SYSTEM REQUIREMENTS</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13BABB-688C-286A-8DE1-C53580792958}"/>
              </a:ext>
            </a:extLst>
          </p:cNvPr>
          <p:cNvSpPr>
            <a:spLocks noGrp="1"/>
          </p:cNvSpPr>
          <p:nvPr>
            <p:ph idx="1"/>
          </p:nvPr>
        </p:nvSpPr>
        <p:spPr>
          <a:xfrm>
            <a:off x="838200" y="1179871"/>
            <a:ext cx="10515600" cy="4997092"/>
          </a:xfrm>
        </p:spPr>
        <p:txBody>
          <a:bodyPr>
            <a:normAutofit/>
          </a:bodyPr>
          <a:lstStyle/>
          <a:p>
            <a:pPr marL="0" indent="0" algn="just">
              <a:buNone/>
            </a:pPr>
            <a:r>
              <a:rPr lang="en-IN" sz="1800" dirty="0">
                <a:latin typeface="Times New Roman" panose="02020603050405020304" pitchFamily="18" charset="0"/>
                <a:cs typeface="Times New Roman" panose="02020603050405020304" pitchFamily="18" charset="0"/>
              </a:rPr>
              <a:t>To ensure smooth execution, the following hardware and software configurations are recommended:</a:t>
            </a:r>
          </a:p>
          <a:p>
            <a:pPr marL="0" indent="0" algn="just">
              <a:buNone/>
            </a:pPr>
            <a:r>
              <a:rPr lang="en-IN" sz="1800" b="1" dirty="0">
                <a:latin typeface="Times New Roman" panose="02020603050405020304" pitchFamily="18" charset="0"/>
                <a:cs typeface="Times New Roman" panose="02020603050405020304" pitchFamily="18" charset="0"/>
              </a:rPr>
              <a:t>Hardware</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Processor</a:t>
            </a:r>
            <a:r>
              <a:rPr lang="en-IN" sz="1800" dirty="0">
                <a:latin typeface="Times New Roman" panose="02020603050405020304" pitchFamily="18" charset="0"/>
                <a:cs typeface="Times New Roman" panose="02020603050405020304" pitchFamily="18" charset="0"/>
              </a:rPr>
              <a:t>: Intel i5/i7 or AMD </a:t>
            </a:r>
            <a:r>
              <a:rPr lang="en-IN" sz="1800" dirty="0" err="1">
                <a:latin typeface="Times New Roman" panose="02020603050405020304" pitchFamily="18" charset="0"/>
                <a:cs typeface="Times New Roman" panose="02020603050405020304" pitchFamily="18" charset="0"/>
              </a:rPr>
              <a:t>Ryzen</a:t>
            </a:r>
            <a:r>
              <a:rPr lang="en-IN" sz="1800" dirty="0">
                <a:latin typeface="Times New Roman" panose="02020603050405020304" pitchFamily="18" charset="0"/>
                <a:cs typeface="Times New Roman" panose="02020603050405020304" pitchFamily="18" charset="0"/>
              </a:rPr>
              <a:t> 5/7 (or better)</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RAM</a:t>
            </a:r>
            <a:r>
              <a:rPr lang="en-IN" sz="1800" dirty="0">
                <a:latin typeface="Times New Roman" panose="02020603050405020304" pitchFamily="18" charset="0"/>
                <a:cs typeface="Times New Roman" panose="02020603050405020304" pitchFamily="18" charset="0"/>
              </a:rPr>
              <a:t>: At least 8 GB (16 GB recommended for large datasets)</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GPU</a:t>
            </a:r>
            <a:r>
              <a:rPr lang="en-IN" sz="1800" dirty="0">
                <a:latin typeface="Times New Roman" panose="02020603050405020304" pitchFamily="18" charset="0"/>
                <a:cs typeface="Times New Roman" panose="02020603050405020304" pitchFamily="18" charset="0"/>
              </a:rPr>
              <a:t>: NVIDIA GPU with CUDA support (e.g., GTX 1050 or better) for faster training (Optional but recommended)</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Storage</a:t>
            </a:r>
            <a:r>
              <a:rPr lang="en-IN" sz="1800" dirty="0">
                <a:latin typeface="Times New Roman" panose="02020603050405020304" pitchFamily="18" charset="0"/>
                <a:cs typeface="Times New Roman" panose="02020603050405020304" pitchFamily="18" charset="0"/>
              </a:rPr>
              <a:t>: 20 GB or more free space to store datasets and models</a:t>
            </a:r>
          </a:p>
          <a:p>
            <a:pPr marL="0" indent="0" algn="just">
              <a:buNone/>
            </a:pPr>
            <a:r>
              <a:rPr lang="en-IN" sz="1800" b="1" dirty="0">
                <a:latin typeface="Times New Roman" panose="02020603050405020304" pitchFamily="18" charset="0"/>
                <a:cs typeface="Times New Roman" panose="02020603050405020304" pitchFamily="18" charset="0"/>
              </a:rPr>
              <a:t>Software</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Operating System</a:t>
            </a:r>
            <a:r>
              <a:rPr lang="en-IN" sz="1800" dirty="0">
                <a:latin typeface="Times New Roman" panose="02020603050405020304" pitchFamily="18" charset="0"/>
                <a:cs typeface="Times New Roman" panose="02020603050405020304" pitchFamily="18" charset="0"/>
              </a:rPr>
              <a:t>: Windows, macOS, or Linux</a:t>
            </a:r>
          </a:p>
          <a:p>
            <a:pPr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Version 3.8 or higher</a:t>
            </a:r>
          </a:p>
          <a:p>
            <a:pPr marL="0" indent="0">
              <a:buNone/>
            </a:pPr>
            <a:endParaRPr lang="en-IN" dirty="0"/>
          </a:p>
        </p:txBody>
      </p:sp>
    </p:spTree>
    <p:extLst>
      <p:ext uri="{BB962C8B-B14F-4D97-AF65-F5344CB8AC3E}">
        <p14:creationId xmlns:p14="http://schemas.microsoft.com/office/powerpoint/2010/main" val="68486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4C642-F570-0404-2C46-E79165B0E21F}"/>
              </a:ext>
            </a:extLst>
          </p:cNvPr>
          <p:cNvSpPr>
            <a:spLocks noGrp="1"/>
          </p:cNvSpPr>
          <p:nvPr>
            <p:ph type="title"/>
          </p:nvPr>
        </p:nvSpPr>
        <p:spPr>
          <a:xfrm>
            <a:off x="838200" y="365125"/>
            <a:ext cx="10515600" cy="1129377"/>
          </a:xfrm>
        </p:spPr>
        <p:txBody>
          <a:bodyPr>
            <a:normAutofit/>
          </a:bodyPr>
          <a:lstStyle/>
          <a:p>
            <a:pPr algn="ctr"/>
            <a:r>
              <a:rPr lang="en-US" sz="4400" b="1" dirty="0">
                <a:latin typeface="Times New Roman" panose="02020603050405020304" pitchFamily="18" charset="0"/>
                <a:ea typeface="+mj-lt"/>
                <a:cs typeface="Times New Roman" panose="02020603050405020304" pitchFamily="18" charset="0"/>
              </a:rPr>
              <a:t> </a:t>
            </a:r>
            <a:r>
              <a:rPr lang="en-US" sz="2000" b="1" dirty="0">
                <a:latin typeface="Times New Roman" panose="02020603050405020304" pitchFamily="18" charset="0"/>
                <a:ea typeface="+mj-lt"/>
                <a:cs typeface="Times New Roman" panose="02020603050405020304" pitchFamily="18" charset="0"/>
              </a:rPr>
              <a:t>LIBRARIES</a:t>
            </a:r>
            <a:endParaRPr lang="en-IN" sz="2000" dirty="0"/>
          </a:p>
        </p:txBody>
      </p:sp>
      <p:sp>
        <p:nvSpPr>
          <p:cNvPr id="3" name="Content Placeholder 2">
            <a:extLst>
              <a:ext uri="{FF2B5EF4-FFF2-40B4-BE49-F238E27FC236}">
                <a16:creationId xmlns:a16="http://schemas.microsoft.com/office/drawing/2014/main" id="{FA5D70FB-A785-AE84-631B-99BED94A6F07}"/>
              </a:ext>
            </a:extLst>
          </p:cNvPr>
          <p:cNvSpPr>
            <a:spLocks noGrp="1"/>
          </p:cNvSpPr>
          <p:nvPr>
            <p:ph idx="1"/>
          </p:nvPr>
        </p:nvSpPr>
        <p:spPr>
          <a:xfrm>
            <a:off x="838200" y="1612490"/>
            <a:ext cx="10515600" cy="4564473"/>
          </a:xfrm>
        </p:spPr>
        <p:txBody>
          <a:bodyPr>
            <a:normAutofit/>
          </a:bodyPr>
          <a:lstStyle/>
          <a:p>
            <a:r>
              <a:rPr lang="en-US" sz="1800" dirty="0">
                <a:latin typeface="Times New Roman" panose="02020603050405020304" pitchFamily="18" charset="0"/>
                <a:cs typeface="Times New Roman" panose="02020603050405020304" pitchFamily="18" charset="0"/>
              </a:rPr>
              <a:t>The following Python libraries are necessary for this project:</a:t>
            </a:r>
          </a:p>
          <a:p>
            <a:r>
              <a:rPr lang="en-IN" sz="1800" b="1" dirty="0">
                <a:latin typeface="Times New Roman" panose="02020603050405020304" pitchFamily="18" charset="0"/>
                <a:cs typeface="Times New Roman" panose="02020603050405020304" pitchFamily="18" charset="0"/>
              </a:rPr>
              <a:t>TensorFlow</a:t>
            </a: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NumPy</a:t>
            </a:r>
          </a:p>
          <a:p>
            <a:r>
              <a:rPr lang="en-IN" sz="1800" b="1" dirty="0">
                <a:latin typeface="Times New Roman" panose="02020603050405020304" pitchFamily="18" charset="0"/>
                <a:cs typeface="Times New Roman" panose="02020603050405020304" pitchFamily="18" charset="0"/>
              </a:rPr>
              <a:t>Matplotlib</a:t>
            </a:r>
          </a:p>
          <a:p>
            <a:r>
              <a:rPr lang="en-IN" sz="1800" b="1" dirty="0">
                <a:latin typeface="Times New Roman" panose="02020603050405020304" pitchFamily="18" charset="0"/>
                <a:cs typeface="Times New Roman" panose="02020603050405020304" pitchFamily="18" charset="0"/>
              </a:rPr>
              <a:t>scikit-learn</a:t>
            </a:r>
          </a:p>
          <a:p>
            <a:r>
              <a:rPr lang="en-IN" sz="1800" b="1" dirty="0">
                <a:latin typeface="Times New Roman" panose="02020603050405020304" pitchFamily="18" charset="0"/>
                <a:cs typeface="Times New Roman" panose="02020603050405020304" pitchFamily="18" charset="0"/>
              </a:rPr>
              <a:t>Pandas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27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8AE6-9354-3858-441E-9349ADE8910E}"/>
              </a:ext>
            </a:extLst>
          </p:cNvPr>
          <p:cNvSpPr>
            <a:spLocks noGrp="1"/>
          </p:cNvSpPr>
          <p:nvPr>
            <p:ph type="title"/>
          </p:nvPr>
        </p:nvSpPr>
        <p:spPr>
          <a:xfrm>
            <a:off x="838200" y="365126"/>
            <a:ext cx="10515600" cy="1109714"/>
          </a:xfrm>
        </p:spPr>
        <p:txBody>
          <a:bodyPr>
            <a:normAutofit/>
          </a:bodyPr>
          <a:lstStyle/>
          <a:p>
            <a:pPr algn="ctr"/>
            <a:r>
              <a:rPr lang="en-IN" sz="2000" b="1" dirty="0">
                <a:latin typeface="Times New Roman" panose="02020603050405020304" pitchFamily="18" charset="0"/>
                <a:cs typeface="Times New Roman" panose="02020603050405020304" pitchFamily="18" charset="0"/>
              </a:rPr>
              <a:t>System Architecture</a:t>
            </a:r>
          </a:p>
        </p:txBody>
      </p:sp>
      <p:sp>
        <p:nvSpPr>
          <p:cNvPr id="3" name="Content Placeholder 2">
            <a:extLst>
              <a:ext uri="{FF2B5EF4-FFF2-40B4-BE49-F238E27FC236}">
                <a16:creationId xmlns:a16="http://schemas.microsoft.com/office/drawing/2014/main" id="{64358CF5-3473-DDDC-D5F7-A5A330910A0F}"/>
              </a:ext>
            </a:extLst>
          </p:cNvPr>
          <p:cNvSpPr>
            <a:spLocks noGrp="1"/>
          </p:cNvSpPr>
          <p:nvPr>
            <p:ph idx="1"/>
          </p:nvPr>
        </p:nvSpPr>
        <p:spPr>
          <a:xfrm>
            <a:off x="838200" y="1759973"/>
            <a:ext cx="10515600" cy="4416989"/>
          </a:xfrm>
        </p:spPr>
        <p:txBody>
          <a:bodyPr>
            <a:normAutofit/>
          </a:bodyPr>
          <a:lstStyle/>
          <a:p>
            <a:pPr algn="just"/>
            <a:r>
              <a:rPr lang="en-US" sz="1800" dirty="0">
                <a:latin typeface="Times New Roman" panose="02020603050405020304" pitchFamily="18" charset="0"/>
                <a:cs typeface="Times New Roman" panose="02020603050405020304" pitchFamily="18" charset="0"/>
              </a:rPr>
              <a:t>The proposed system for skin cancer detection using CNN involves a modular architecture for efficient and accurate image classification. It begins with </a:t>
            </a:r>
            <a:r>
              <a:rPr lang="en-US" sz="1800" b="1" dirty="0">
                <a:latin typeface="Times New Roman" panose="02020603050405020304" pitchFamily="18" charset="0"/>
                <a:cs typeface="Times New Roman" panose="02020603050405020304" pitchFamily="18" charset="0"/>
              </a:rPr>
              <a:t>Data Acquisition</a:t>
            </a:r>
            <a:r>
              <a:rPr lang="en-US" sz="1800" dirty="0">
                <a:latin typeface="Times New Roman" panose="02020603050405020304" pitchFamily="18" charset="0"/>
                <a:cs typeface="Times New Roman" panose="02020603050405020304" pitchFamily="18" charset="0"/>
              </a:rPr>
              <a:t>, where skin lesion images are preprocessed by resizing, normalizing, and augmenting for better generalization. The </a:t>
            </a:r>
            <a:r>
              <a:rPr lang="en-US" sz="1800" b="1" dirty="0">
                <a:latin typeface="Times New Roman" panose="02020603050405020304" pitchFamily="18" charset="0"/>
                <a:cs typeface="Times New Roman" panose="02020603050405020304" pitchFamily="18" charset="0"/>
              </a:rPr>
              <a:t>Model Training Layer</a:t>
            </a:r>
            <a:r>
              <a:rPr lang="en-US" sz="1800" dirty="0">
                <a:latin typeface="Times New Roman" panose="02020603050405020304" pitchFamily="18" charset="0"/>
                <a:cs typeface="Times New Roman" panose="02020603050405020304" pitchFamily="18" charset="0"/>
              </a:rPr>
              <a:t> uses a CNN with convolutional, pooling, and fully connected layers to extract features and classify images into benign or malignant categories. Training is optimized using binary cross-entropy loss and the Adam optimizer.</a:t>
            </a:r>
          </a:p>
          <a:p>
            <a:pPr algn="just"/>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Evaluation Layer</a:t>
            </a:r>
            <a:r>
              <a:rPr lang="en-US" sz="1800" dirty="0">
                <a:latin typeface="Times New Roman" panose="02020603050405020304" pitchFamily="18" charset="0"/>
                <a:cs typeface="Times New Roman" panose="02020603050405020304" pitchFamily="18" charset="0"/>
              </a:rPr>
              <a:t> validates the model’s performance through metrics like accuracy, precision, recall, F1-score, and a confusion matrix. Post-training, the system is deployed via a standalone application, web interface, or API service, allowing users to upload images and receive real-time classification results.</a:t>
            </a:r>
          </a:p>
          <a:p>
            <a:pPr algn="just"/>
            <a:r>
              <a:rPr lang="en-US" sz="1800" dirty="0">
                <a:latin typeface="Times New Roman" panose="02020603050405020304" pitchFamily="18" charset="0"/>
                <a:cs typeface="Times New Roman" panose="02020603050405020304" pitchFamily="18" charset="0"/>
              </a:rPr>
              <a:t>This architecture is modular, scalable, and flexible, supporting real-world clinical applications while facilitating improvements through user feedback and additional data integration. It automates early diagnosis, enhancing accuracy and efficiency in skin cancer detection.</a:t>
            </a:r>
          </a:p>
          <a:p>
            <a:endParaRPr lang="en-IN" dirty="0"/>
          </a:p>
        </p:txBody>
      </p:sp>
    </p:spTree>
    <p:extLst>
      <p:ext uri="{BB962C8B-B14F-4D97-AF65-F5344CB8AC3E}">
        <p14:creationId xmlns:p14="http://schemas.microsoft.com/office/powerpoint/2010/main" val="3113313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679C-1C2B-E67D-02A2-00FBB0CD673B}"/>
              </a:ext>
            </a:extLst>
          </p:cNvPr>
          <p:cNvSpPr>
            <a:spLocks noGrp="1"/>
          </p:cNvSpPr>
          <p:nvPr>
            <p:ph type="title"/>
          </p:nvPr>
        </p:nvSpPr>
        <p:spPr>
          <a:xfrm>
            <a:off x="838200" y="365125"/>
            <a:ext cx="10515600" cy="863907"/>
          </a:xfrm>
        </p:spPr>
        <p:txBody>
          <a:bodyPr>
            <a:normAutofit/>
          </a:bodyPr>
          <a:lstStyle/>
          <a:p>
            <a:pPr algn="ctr"/>
            <a:r>
              <a:rPr lang="en-US" sz="2000" b="1" dirty="0">
                <a:latin typeface="Times New Roman" panose="02020603050405020304" pitchFamily="18" charset="0"/>
                <a:cs typeface="Times New Roman" panose="02020603050405020304" pitchFamily="18" charset="0"/>
              </a:rPr>
              <a:t>SYSTEM DESIGN</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155230-6129-345B-E2CA-E98CA92658AD}"/>
              </a:ext>
            </a:extLst>
          </p:cNvPr>
          <p:cNvSpPr>
            <a:spLocks noGrp="1"/>
          </p:cNvSpPr>
          <p:nvPr>
            <p:ph idx="1"/>
          </p:nvPr>
        </p:nvSpPr>
        <p:spPr/>
        <p:txBody>
          <a:bodyPr/>
          <a:lstStyle/>
          <a:p>
            <a:endParaRPr lang="en-IN" dirty="0"/>
          </a:p>
        </p:txBody>
      </p:sp>
      <p:pic>
        <p:nvPicPr>
          <p:cNvPr id="4" name="Content Placeholder 6" descr="A diagram of a medical procedure">
            <a:extLst>
              <a:ext uri="{FF2B5EF4-FFF2-40B4-BE49-F238E27FC236}">
                <a16:creationId xmlns:a16="http://schemas.microsoft.com/office/drawing/2014/main" id="{BFCD5851-D780-F09C-5015-0998A604BE08}"/>
              </a:ext>
            </a:extLst>
          </p:cNvPr>
          <p:cNvPicPr>
            <a:picLocks noChangeAspect="1"/>
          </p:cNvPicPr>
          <p:nvPr/>
        </p:nvPicPr>
        <p:blipFill>
          <a:blip r:embed="rId2"/>
          <a:stretch>
            <a:fillRect/>
          </a:stretch>
        </p:blipFill>
        <p:spPr>
          <a:xfrm>
            <a:off x="2192594" y="1582994"/>
            <a:ext cx="7374193" cy="4726366"/>
          </a:xfrm>
          <a:prstGeom prst="rect">
            <a:avLst/>
          </a:prstGeom>
        </p:spPr>
      </p:pic>
    </p:spTree>
    <p:extLst>
      <p:ext uri="{BB962C8B-B14F-4D97-AF65-F5344CB8AC3E}">
        <p14:creationId xmlns:p14="http://schemas.microsoft.com/office/powerpoint/2010/main" val="112606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7130-ACD7-1734-2AD7-7E76A6F87D0C}"/>
              </a:ext>
            </a:extLst>
          </p:cNvPr>
          <p:cNvSpPr>
            <a:spLocks noGrp="1"/>
          </p:cNvSpPr>
          <p:nvPr>
            <p:ph type="title"/>
          </p:nvPr>
        </p:nvSpPr>
        <p:spPr>
          <a:xfrm>
            <a:off x="838200" y="365125"/>
            <a:ext cx="10515600" cy="716423"/>
          </a:xfrm>
        </p:spPr>
        <p:txBody>
          <a:bodyPr>
            <a:normAutofit/>
          </a:bodyPr>
          <a:lstStyle/>
          <a:p>
            <a:pPr algn="ctr"/>
            <a:r>
              <a:rPr lang="en-US" sz="2000" b="1" dirty="0">
                <a:latin typeface="Times New Roman" panose="02020603050405020304" pitchFamily="18" charset="0"/>
                <a:cs typeface="Times New Roman" panose="02020603050405020304" pitchFamily="18" charset="0"/>
              </a:rPr>
              <a:t>METHODOLOGY</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C4FA0D-A25F-D3FE-FB68-C7D56BF4210E}"/>
              </a:ext>
            </a:extLst>
          </p:cNvPr>
          <p:cNvSpPr>
            <a:spLocks noGrp="1"/>
          </p:cNvSpPr>
          <p:nvPr>
            <p:ph idx="1"/>
          </p:nvPr>
        </p:nvSpPr>
        <p:spPr>
          <a:xfrm>
            <a:off x="838200" y="1484671"/>
            <a:ext cx="10515600" cy="4692292"/>
          </a:xfrm>
        </p:spPr>
        <p:txBody>
          <a:bodyPr>
            <a:normAutofit/>
          </a:bodyPr>
          <a:lstStyle/>
          <a:p>
            <a:pPr algn="just"/>
            <a:r>
              <a:rPr lang="en-US" sz="1800" dirty="0">
                <a:latin typeface="Times New Roman" panose="02020603050405020304" pitchFamily="18" charset="0"/>
                <a:cs typeface="Times New Roman" panose="02020603050405020304" pitchFamily="18" charset="0"/>
              </a:rPr>
              <a:t>The skin cancer detection project utilizes multiple methodologies to ensure an accurate and efficient classification system. </a:t>
            </a:r>
            <a:r>
              <a:rPr lang="en-US" sz="1800" b="1" dirty="0">
                <a:latin typeface="Times New Roman" panose="02020603050405020304" pitchFamily="18" charset="0"/>
                <a:cs typeface="Times New Roman" panose="02020603050405020304" pitchFamily="18" charset="0"/>
              </a:rPr>
              <a:t>Data preprocessing</a:t>
            </a:r>
            <a:r>
              <a:rPr lang="en-US" sz="1800" dirty="0">
                <a:latin typeface="Times New Roman" panose="02020603050405020304" pitchFamily="18" charset="0"/>
                <a:cs typeface="Times New Roman" panose="02020603050405020304" pitchFamily="18" charset="0"/>
              </a:rPr>
              <a:t> is a critical initial step, involving resizing images to a uniform size, normalizing pixel values for computational efficiency, and applying data augmentation techniques such as rotation, flipping, and zooming to enhance the diversity and robustness of the training dataset. The core of the system is a </a:t>
            </a:r>
            <a:r>
              <a:rPr lang="en-US" sz="1800" b="1" dirty="0">
                <a:latin typeface="Times New Roman" panose="02020603050405020304" pitchFamily="18" charset="0"/>
                <a:cs typeface="Times New Roman" panose="02020603050405020304" pitchFamily="18" charset="0"/>
              </a:rPr>
              <a:t>Convolutional Neural Network (CNN)</a:t>
            </a:r>
            <a:r>
              <a:rPr lang="en-US" sz="1800" dirty="0">
                <a:latin typeface="Times New Roman" panose="02020603050405020304" pitchFamily="18" charset="0"/>
                <a:cs typeface="Times New Roman" panose="02020603050405020304" pitchFamily="18" charset="0"/>
              </a:rPr>
              <a:t>, designed to extract spatial features from images using convolutional and pooling layers. Batch normalization is employed to stabilize training, while dropout layers mitigate overfitting. The model is trained using the Adam optimizer and binary cross-entropy loss to minimize classification errors. </a:t>
            </a:r>
            <a:r>
              <a:rPr lang="en-US" sz="1800" b="1" dirty="0">
                <a:latin typeface="Times New Roman" panose="02020603050405020304" pitchFamily="18" charset="0"/>
                <a:cs typeface="Times New Roman" panose="02020603050405020304" pitchFamily="18" charset="0"/>
              </a:rPr>
              <a:t>Performance evaluation</a:t>
            </a:r>
            <a:r>
              <a:rPr lang="en-US" sz="1800" dirty="0">
                <a:latin typeface="Times New Roman" panose="02020603050405020304" pitchFamily="18" charset="0"/>
                <a:cs typeface="Times New Roman" panose="02020603050405020304" pitchFamily="18" charset="0"/>
              </a:rPr>
              <a:t> includes metrics such as accuracy, precision, recall, F1-score, and confusion matrices to validate the model's generalization capabilities. The system supports multiple </a:t>
            </a:r>
            <a:r>
              <a:rPr lang="en-US" sz="1800" b="1" dirty="0">
                <a:latin typeface="Times New Roman" panose="02020603050405020304" pitchFamily="18" charset="0"/>
                <a:cs typeface="Times New Roman" panose="02020603050405020304" pitchFamily="18" charset="0"/>
              </a:rPr>
              <a:t>deployment methodologies</a:t>
            </a:r>
            <a:r>
              <a:rPr lang="en-US" sz="1800" dirty="0">
                <a:latin typeface="Times New Roman" panose="02020603050405020304" pitchFamily="18" charset="0"/>
                <a:cs typeface="Times New Roman" panose="02020603050405020304" pitchFamily="18" charset="0"/>
              </a:rPr>
              <a:t>, including standalone applications, web interfaces, or APIs, making it versatile for real-world clinical use.</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801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07C3C-31DB-F2BA-C8CE-8495346DEF69}"/>
              </a:ext>
            </a:extLst>
          </p:cNvPr>
          <p:cNvSpPr>
            <a:spLocks noGrp="1"/>
          </p:cNvSpPr>
          <p:nvPr>
            <p:ph type="title"/>
          </p:nvPr>
        </p:nvSpPr>
        <p:spPr>
          <a:xfrm>
            <a:off x="838200" y="365125"/>
            <a:ext cx="10515600" cy="913069"/>
          </a:xfrm>
        </p:spPr>
        <p:txBody>
          <a:bodyPr>
            <a:normAutofit/>
          </a:bodyPr>
          <a:lstStyle/>
          <a:p>
            <a:pPr algn="ctr"/>
            <a:r>
              <a:rPr lang="en-US" sz="2000" b="1" dirty="0">
                <a:latin typeface="Times New Roman" panose="02020603050405020304" pitchFamily="18" charset="0"/>
                <a:cs typeface="Times New Roman" panose="02020603050405020304" pitchFamily="18" charset="0"/>
              </a:rPr>
              <a:t>METHODOLOGY</a:t>
            </a:r>
            <a:endParaRPr lang="en-IN" sz="2000" dirty="0"/>
          </a:p>
        </p:txBody>
      </p:sp>
      <p:pic>
        <p:nvPicPr>
          <p:cNvPr id="7" name="Content Placeholder 6">
            <a:extLst>
              <a:ext uri="{FF2B5EF4-FFF2-40B4-BE49-F238E27FC236}">
                <a16:creationId xmlns:a16="http://schemas.microsoft.com/office/drawing/2014/main" id="{61F16B1B-6083-0B5E-BEF8-9AD0C2E1AB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7530" y="1825625"/>
            <a:ext cx="7756940" cy="4351338"/>
          </a:xfrm>
        </p:spPr>
      </p:pic>
    </p:spTree>
    <p:extLst>
      <p:ext uri="{BB962C8B-B14F-4D97-AF65-F5344CB8AC3E}">
        <p14:creationId xmlns:p14="http://schemas.microsoft.com/office/powerpoint/2010/main" val="402503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02587-D0CD-366E-0A5E-56B5777585A7}"/>
              </a:ext>
            </a:extLst>
          </p:cNvPr>
          <p:cNvSpPr>
            <a:spLocks noGrp="1"/>
          </p:cNvSpPr>
          <p:nvPr>
            <p:ph type="title"/>
          </p:nvPr>
        </p:nvSpPr>
        <p:spPr>
          <a:xfrm>
            <a:off x="838200" y="365125"/>
            <a:ext cx="10515600" cy="873740"/>
          </a:xfrm>
        </p:spPr>
        <p:txBody>
          <a:bodyPr>
            <a:normAutofit/>
          </a:bodyPr>
          <a:lstStyle/>
          <a:p>
            <a:pPr algn="ctr"/>
            <a:r>
              <a:rPr lang="en-IN" sz="2000" b="1" dirty="0">
                <a:latin typeface="Times New Roman" panose="02020603050405020304" pitchFamily="18" charset="0"/>
                <a:cs typeface="Times New Roman" panose="02020603050405020304" pitchFamily="18" charset="0"/>
              </a:rPr>
              <a:t>Workflow</a:t>
            </a:r>
          </a:p>
        </p:txBody>
      </p:sp>
      <p:sp>
        <p:nvSpPr>
          <p:cNvPr id="3" name="Content Placeholder 2">
            <a:extLst>
              <a:ext uri="{FF2B5EF4-FFF2-40B4-BE49-F238E27FC236}">
                <a16:creationId xmlns:a16="http://schemas.microsoft.com/office/drawing/2014/main" id="{3798019C-7015-0EDC-F93C-FCE08A62BCEB}"/>
              </a:ext>
            </a:extLst>
          </p:cNvPr>
          <p:cNvSpPr>
            <a:spLocks noGrp="1"/>
          </p:cNvSpPr>
          <p:nvPr>
            <p:ph idx="1"/>
          </p:nvPr>
        </p:nvSpPr>
        <p:spPr>
          <a:xfrm>
            <a:off x="838200" y="1406013"/>
            <a:ext cx="10515600" cy="4770950"/>
          </a:xfrm>
        </p:spPr>
        <p:txBody>
          <a:bodyPr>
            <a:normAutofit/>
          </a:bodyPr>
          <a:lstStyle/>
          <a:p>
            <a:pPr algn="just"/>
            <a:r>
              <a:rPr lang="en-US" sz="1800" dirty="0">
                <a:latin typeface="Times New Roman"/>
                <a:ea typeface="+mn-lt"/>
                <a:cs typeface="+mn-lt"/>
              </a:rPr>
              <a:t>The methodology used in skin cancer detection with images typically involves the use of image processing, machine learning (ML), and deep learning (DL) techniques.</a:t>
            </a:r>
            <a:endParaRPr lang="en-US" sz="1800" dirty="0">
              <a:latin typeface="Times New Roman"/>
              <a:cs typeface="Times New Roman"/>
            </a:endParaRPr>
          </a:p>
          <a:p>
            <a:pPr marL="0" indent="0" algn="just">
              <a:buNone/>
            </a:pPr>
            <a:r>
              <a:rPr lang="en-US" sz="1800" b="1" dirty="0">
                <a:latin typeface="Times New Roman"/>
                <a:ea typeface="+mn-lt"/>
                <a:cs typeface="+mn-lt"/>
              </a:rPr>
              <a:t>⁠ 1.⁠Data Collection and Preprocessing</a:t>
            </a:r>
            <a:endParaRPr lang="en-US" sz="1800" b="1" dirty="0">
              <a:latin typeface="Times New Roman"/>
              <a:cs typeface="Times New Roman"/>
            </a:endParaRPr>
          </a:p>
          <a:p>
            <a:pPr algn="just"/>
            <a:r>
              <a:rPr lang="en-US" sz="1800" dirty="0">
                <a:latin typeface="Times New Roman"/>
                <a:ea typeface="+mn-lt"/>
                <a:cs typeface="+mn-lt"/>
              </a:rPr>
              <a:t>Purpose: To gather and prepare skin lesion images for further analysis.</a:t>
            </a:r>
            <a:endParaRPr lang="en-US" sz="1800" dirty="0">
              <a:latin typeface="Times New Roman"/>
              <a:cs typeface="Times New Roman"/>
            </a:endParaRPr>
          </a:p>
          <a:p>
            <a:pPr algn="just"/>
            <a:r>
              <a:rPr lang="en-US" sz="1800" dirty="0">
                <a:latin typeface="Times New Roman"/>
                <a:ea typeface="+mn-lt"/>
                <a:cs typeface="+mn-lt"/>
              </a:rPr>
              <a:t>Data Collection: Obtain images from publicly available datasets (e.g., ISIC, HAM10000) or medical institutions.</a:t>
            </a:r>
            <a:endParaRPr lang="en-US" sz="1800" dirty="0">
              <a:latin typeface="Times New Roman"/>
              <a:cs typeface="Times New Roman"/>
            </a:endParaRPr>
          </a:p>
          <a:p>
            <a:pPr marL="0" indent="0" algn="just">
              <a:buNone/>
            </a:pPr>
            <a:r>
              <a:rPr lang="en-US" sz="1800" b="1" dirty="0">
                <a:latin typeface="Times New Roman"/>
                <a:ea typeface="+mn-lt"/>
                <a:cs typeface="+mn-lt"/>
              </a:rPr>
              <a:t>Image Preprocessing:</a:t>
            </a:r>
            <a:endParaRPr lang="en-US" sz="1800" b="1" dirty="0">
              <a:latin typeface="Times New Roman"/>
              <a:cs typeface="Times New Roman"/>
            </a:endParaRPr>
          </a:p>
          <a:p>
            <a:pPr algn="just"/>
            <a:r>
              <a:rPr lang="en-US" sz="1800" dirty="0">
                <a:latin typeface="Times New Roman"/>
                <a:ea typeface="+mn-lt"/>
                <a:cs typeface="+mn-lt"/>
              </a:rPr>
              <a:t>Resizing images to a uniform size.</a:t>
            </a:r>
            <a:endParaRPr lang="en-US" sz="1800" dirty="0">
              <a:latin typeface="Times New Roman"/>
              <a:cs typeface="Times New Roman"/>
            </a:endParaRPr>
          </a:p>
          <a:p>
            <a:pPr algn="just"/>
            <a:r>
              <a:rPr lang="en-US" sz="1800" dirty="0">
                <a:latin typeface="Times New Roman"/>
                <a:ea typeface="+mn-lt"/>
                <a:cs typeface="+mn-lt"/>
              </a:rPr>
              <a:t>Removing noise and artifacts.</a:t>
            </a:r>
            <a:endParaRPr lang="en-US" sz="1800" dirty="0">
              <a:latin typeface="Times New Roman"/>
              <a:cs typeface="Times New Roman"/>
            </a:endParaRPr>
          </a:p>
          <a:p>
            <a:pPr algn="just"/>
            <a:r>
              <a:rPr lang="en-US" sz="1800" dirty="0">
                <a:latin typeface="Times New Roman"/>
                <a:ea typeface="+mn-lt"/>
                <a:cs typeface="+mn-lt"/>
              </a:rPr>
              <a:t>Normalizing pixel values.</a:t>
            </a:r>
            <a:endParaRPr lang="en-US" sz="1800" dirty="0">
              <a:latin typeface="Times New Roman"/>
              <a:cs typeface="Times New Roman"/>
            </a:endParaRPr>
          </a:p>
          <a:p>
            <a:pPr algn="just"/>
            <a:r>
              <a:rPr lang="en-US" sz="1800" dirty="0">
                <a:latin typeface="Times New Roman"/>
                <a:ea typeface="+mn-lt"/>
                <a:cs typeface="+mn-lt"/>
              </a:rPr>
              <a:t>Data augmentation</a:t>
            </a:r>
          </a:p>
          <a:p>
            <a:pPr marL="0" indent="0" algn="just">
              <a:buNone/>
            </a:pPr>
            <a:r>
              <a:rPr lang="en-US" sz="1800" b="1" dirty="0">
                <a:latin typeface="Times New Roman"/>
                <a:ea typeface="+mn-lt"/>
                <a:cs typeface="+mn-lt"/>
              </a:rPr>
              <a:t>2.⁠ ⁠Image Segmentation</a:t>
            </a:r>
            <a:endParaRPr lang="en-US" sz="1800" b="1" dirty="0">
              <a:latin typeface="Times New Roman"/>
              <a:cs typeface="Times New Roman"/>
            </a:endParaRPr>
          </a:p>
          <a:p>
            <a:pPr algn="just"/>
            <a:r>
              <a:rPr lang="en-US" sz="1800" dirty="0">
                <a:latin typeface="Times New Roman"/>
                <a:ea typeface="+mn-lt"/>
                <a:cs typeface="+mn-lt"/>
              </a:rPr>
              <a:t>To isolate the lesion from the surrounding healthy skin</a:t>
            </a:r>
          </a:p>
          <a:p>
            <a:endParaRPr lang="en-IN" dirty="0"/>
          </a:p>
        </p:txBody>
      </p:sp>
    </p:spTree>
    <p:extLst>
      <p:ext uri="{BB962C8B-B14F-4D97-AF65-F5344CB8AC3E}">
        <p14:creationId xmlns:p14="http://schemas.microsoft.com/office/powerpoint/2010/main" val="238300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07528-5A51-76CA-F607-3D58E041D0CC}"/>
              </a:ext>
            </a:extLst>
          </p:cNvPr>
          <p:cNvSpPr>
            <a:spLocks noGrp="1"/>
          </p:cNvSpPr>
          <p:nvPr>
            <p:ph type="title"/>
          </p:nvPr>
        </p:nvSpPr>
        <p:spPr>
          <a:xfrm>
            <a:off x="838200" y="681037"/>
            <a:ext cx="10515600" cy="734348"/>
          </a:xfrm>
        </p:spPr>
        <p:txBody>
          <a:bodyPr>
            <a:normAutofit/>
          </a:bodyPr>
          <a:lstStyle/>
          <a:p>
            <a:pPr algn="ctr"/>
            <a:r>
              <a:rPr lang="en-IN" sz="2000" b="1" dirty="0">
                <a:latin typeface="Times New Roman" panose="02020603050405020304" pitchFamily="18" charset="0"/>
                <a:cs typeface="Times New Roman" panose="02020603050405020304" pitchFamily="18" charset="0"/>
              </a:rPr>
              <a:t>Workflow</a:t>
            </a:r>
            <a:endParaRPr lang="en-IN" sz="2000" dirty="0"/>
          </a:p>
        </p:txBody>
      </p:sp>
      <p:sp>
        <p:nvSpPr>
          <p:cNvPr id="3" name="Content Placeholder 2">
            <a:extLst>
              <a:ext uri="{FF2B5EF4-FFF2-40B4-BE49-F238E27FC236}">
                <a16:creationId xmlns:a16="http://schemas.microsoft.com/office/drawing/2014/main" id="{3AFE6B6E-9B50-EB57-270F-1B609CD95462}"/>
              </a:ext>
            </a:extLst>
          </p:cNvPr>
          <p:cNvSpPr>
            <a:spLocks noGrp="1"/>
          </p:cNvSpPr>
          <p:nvPr>
            <p:ph idx="1"/>
          </p:nvPr>
        </p:nvSpPr>
        <p:spPr/>
        <p:txBody>
          <a:bodyPr>
            <a:normAutofit/>
          </a:bodyPr>
          <a:lstStyle/>
          <a:p>
            <a:pPr marL="0" indent="0" algn="just">
              <a:buNone/>
            </a:pPr>
            <a:r>
              <a:rPr lang="en-US" sz="1800" b="1" dirty="0">
                <a:latin typeface="Times New Roman" panose="02020603050405020304" pitchFamily="18" charset="0"/>
                <a:ea typeface="+mn-lt"/>
                <a:cs typeface="Times New Roman" panose="02020603050405020304" pitchFamily="18" charset="0"/>
              </a:rPr>
              <a:t>3.⁠ ⁠Feature Extraction</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To identify key features such as color, texture, shape, and size from the segmented images.</a:t>
            </a:r>
          </a:p>
          <a:p>
            <a:pPr marL="0" indent="0" algn="just">
              <a:buNone/>
            </a:pPr>
            <a:r>
              <a:rPr lang="en-US" sz="1800" b="1" dirty="0">
                <a:latin typeface="Times New Roman" panose="02020603050405020304" pitchFamily="18" charset="0"/>
                <a:ea typeface="+mn-lt"/>
                <a:cs typeface="Times New Roman" panose="02020603050405020304" pitchFamily="18" charset="0"/>
              </a:rPr>
              <a:t>4.⁠ ⁠Classification</a:t>
            </a:r>
          </a:p>
          <a:p>
            <a:pPr algn="just"/>
            <a:r>
              <a:rPr lang="en-US" sz="1800" dirty="0">
                <a:latin typeface="Times New Roman" panose="02020603050405020304" pitchFamily="18" charset="0"/>
                <a:ea typeface="+mn-lt"/>
                <a:cs typeface="Times New Roman" panose="02020603050405020304" pitchFamily="18" charset="0"/>
              </a:rPr>
              <a:t>To classify the lesion into benign or malignant.</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ea typeface="+mn-lt"/>
                <a:cs typeface="Times New Roman" panose="02020603050405020304" pitchFamily="18" charset="0"/>
              </a:rPr>
              <a:t>5.⁠ ⁠Evaluation and Validation</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To assess the model's performance.</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ea typeface="+mn-lt"/>
                <a:cs typeface="Times New Roman" panose="02020603050405020304" pitchFamily="18" charset="0"/>
              </a:rPr>
              <a:t>6.⁠ ⁠Post-Processing and Decision Making</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To provide an interpretable diagnosis to clinicians and patients.</a:t>
            </a:r>
            <a:endParaRPr 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2749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ACE8-54D7-72F9-3395-91A271755C75}"/>
              </a:ext>
            </a:extLst>
          </p:cNvPr>
          <p:cNvSpPr>
            <a:spLocks noGrp="1"/>
          </p:cNvSpPr>
          <p:nvPr>
            <p:ph type="title"/>
          </p:nvPr>
        </p:nvSpPr>
        <p:spPr>
          <a:xfrm>
            <a:off x="838200" y="365126"/>
            <a:ext cx="10515600" cy="962230"/>
          </a:xfrm>
        </p:spPr>
        <p:txBody>
          <a:bodyPr>
            <a:normAutofit/>
          </a:bodyPr>
          <a:lstStyle/>
          <a:p>
            <a:pPr algn="ctr"/>
            <a:r>
              <a:rPr lang="en-US" sz="2000" b="1" dirty="0">
                <a:latin typeface="Times New Roman" panose="02020603050405020304" pitchFamily="18" charset="0"/>
                <a:cs typeface="Times New Roman" panose="02020603050405020304" pitchFamily="18" charset="0"/>
              </a:rPr>
              <a:t>EVALUATION</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BDC1EA-8F96-5656-994E-8242985F9959}"/>
              </a:ext>
            </a:extLst>
          </p:cNvPr>
          <p:cNvSpPr>
            <a:spLocks noGrp="1"/>
          </p:cNvSpPr>
          <p:nvPr>
            <p:ph idx="1"/>
          </p:nvPr>
        </p:nvSpPr>
        <p:spPr>
          <a:xfrm>
            <a:off x="838200" y="1573161"/>
            <a:ext cx="10515600" cy="4603802"/>
          </a:xfrm>
        </p:spPr>
        <p:txBody>
          <a:bodyPr>
            <a:normAutofit/>
          </a:bodyPr>
          <a:lstStyle/>
          <a:p>
            <a:pPr marL="0" indent="0" algn="just">
              <a:buNone/>
            </a:pPr>
            <a:r>
              <a:rPr lang="en-US" sz="1800" b="1" dirty="0">
                <a:latin typeface="Times New Roman" panose="02020603050405020304" pitchFamily="18" charset="0"/>
                <a:ea typeface="+mn-lt"/>
                <a:cs typeface="Times New Roman" panose="02020603050405020304" pitchFamily="18" charset="0"/>
              </a:rPr>
              <a:t>1.⁠ ⁠Clinical Examination by Dermatologists</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Method: Visual inspection of skin lesions.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Accuracy: Varies based on dermatologist experience (accuracy ranges from 60-80%).</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Benefit:  quick, and inexpensive.</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ea typeface="+mn-lt"/>
                <a:cs typeface="Times New Roman" panose="02020603050405020304" pitchFamily="18" charset="0"/>
              </a:rPr>
              <a:t>2.⁠ ⁠</a:t>
            </a:r>
            <a:r>
              <a:rPr lang="en-US" sz="1800" b="1" dirty="0" err="1">
                <a:latin typeface="Times New Roman" panose="02020603050405020304" pitchFamily="18" charset="0"/>
                <a:ea typeface="+mn-lt"/>
                <a:cs typeface="Times New Roman" panose="02020603050405020304" pitchFamily="18" charset="0"/>
              </a:rPr>
              <a:t>Dermoscopy</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Method: A handheld device magnifies and illuminates skin lesions for a more detailed view.</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Accuracy: Increases diagnostic accuracy to 75-90%.</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Benefit: Improves identification of malignant lesions compared to naked-eye examination.</a:t>
            </a:r>
            <a:endParaRPr lang="en-US" sz="1800" dirty="0">
              <a:latin typeface="Times New Roman" panose="02020603050405020304" pitchFamily="18" charset="0"/>
              <a:cs typeface="Times New Roman" panose="02020603050405020304" pitchFamily="18" charset="0"/>
            </a:endParaRPr>
          </a:p>
          <a:p>
            <a:pPr marL="0" indent="0">
              <a:buNone/>
            </a:pPr>
            <a:endParaRPr lang="en-US" dirty="0">
              <a:latin typeface="Times New Roman"/>
              <a:cs typeface="Times New Roman"/>
            </a:endParaRPr>
          </a:p>
          <a:p>
            <a:endParaRPr lang="en-IN" dirty="0"/>
          </a:p>
        </p:txBody>
      </p:sp>
    </p:spTree>
    <p:extLst>
      <p:ext uri="{BB962C8B-B14F-4D97-AF65-F5344CB8AC3E}">
        <p14:creationId xmlns:p14="http://schemas.microsoft.com/office/powerpoint/2010/main" val="243371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AC79-1C57-4A94-F704-657BC70EC616}"/>
              </a:ext>
            </a:extLst>
          </p:cNvPr>
          <p:cNvSpPr>
            <a:spLocks noGrp="1"/>
          </p:cNvSpPr>
          <p:nvPr>
            <p:ph type="title"/>
          </p:nvPr>
        </p:nvSpPr>
        <p:spPr>
          <a:xfrm>
            <a:off x="838200" y="365125"/>
            <a:ext cx="10515600" cy="1178540"/>
          </a:xfrm>
        </p:spPr>
        <p:txBody>
          <a:bodyPr>
            <a:normAutofit/>
          </a:bodyPr>
          <a:lstStyle/>
          <a:p>
            <a:pPr algn="ctr"/>
            <a:r>
              <a:rPr lang="en-US" sz="2000" b="1" dirty="0">
                <a:latin typeface="Times New Roman" panose="02020603050405020304" pitchFamily="18" charset="0"/>
                <a:cs typeface="Times New Roman" panose="02020603050405020304" pitchFamily="18" charset="0"/>
              </a:rPr>
              <a:t>EVALUATION</a:t>
            </a:r>
            <a:endParaRPr lang="en-IN" sz="2000" dirty="0"/>
          </a:p>
        </p:txBody>
      </p:sp>
      <p:sp>
        <p:nvSpPr>
          <p:cNvPr id="3" name="Content Placeholder 2">
            <a:extLst>
              <a:ext uri="{FF2B5EF4-FFF2-40B4-BE49-F238E27FC236}">
                <a16:creationId xmlns:a16="http://schemas.microsoft.com/office/drawing/2014/main" id="{4A831C62-47F0-5E7A-72DD-944C02D7E13B}"/>
              </a:ext>
            </a:extLst>
          </p:cNvPr>
          <p:cNvSpPr>
            <a:spLocks noGrp="1"/>
          </p:cNvSpPr>
          <p:nvPr>
            <p:ph idx="1"/>
          </p:nvPr>
        </p:nvSpPr>
        <p:spPr>
          <a:xfrm>
            <a:off x="985683" y="1927122"/>
            <a:ext cx="10515600" cy="4367827"/>
          </a:xfrm>
        </p:spPr>
        <p:txBody>
          <a:bodyPr>
            <a:normAutofit/>
          </a:bodyPr>
          <a:lstStyle/>
          <a:p>
            <a:pPr marL="0" indent="0" algn="just">
              <a:buNone/>
            </a:pPr>
            <a:r>
              <a:rPr lang="en-US" sz="1800" b="1" dirty="0">
                <a:latin typeface="Times New Roman" panose="02020603050405020304" pitchFamily="18" charset="0"/>
                <a:ea typeface="+mn-lt"/>
                <a:cs typeface="Times New Roman" panose="02020603050405020304" pitchFamily="18" charset="0"/>
              </a:rPr>
              <a:t>3.⁠ ⁠Digital Skin Imaging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Method: High-resolution images of skin lesions are captured and analyzed by dermatologists remotely.</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Accuracy: Comparable to in-person examination.</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Benefit: Increases access to specialists, especially in remote areas.</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ea typeface="+mn-lt"/>
                <a:cs typeface="Times New Roman" panose="02020603050405020304" pitchFamily="18" charset="0"/>
              </a:rPr>
              <a:t>4.⁠ ⁠Artificial Intelligence (AI) in Skin Cancer Detection</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Method: AI models analyze images of skin lesions to detect potential malignancies.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Accuracy: Some AI models have achieved accuracy levels comparable to dermatologists (90-95%).</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Benefit: Rapid analysis, cost-effective, can screen large populations.</a:t>
            </a:r>
            <a:endParaRPr lang="en-US" sz="1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552842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45CA91-ABC1-FC41-F4B3-C5B20D09D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151" y="1789472"/>
            <a:ext cx="5187172" cy="4119716"/>
          </a:xfrm>
          <a:prstGeom prst="rect">
            <a:avLst/>
          </a:prstGeom>
        </p:spPr>
      </p:pic>
      <p:pic>
        <p:nvPicPr>
          <p:cNvPr id="7" name="Picture 6">
            <a:extLst>
              <a:ext uri="{FF2B5EF4-FFF2-40B4-BE49-F238E27FC236}">
                <a16:creationId xmlns:a16="http://schemas.microsoft.com/office/drawing/2014/main" id="{2F34FDFE-C8FD-13EE-B17C-13853898D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4342" y="1455175"/>
            <a:ext cx="4580837" cy="4198376"/>
          </a:xfrm>
          <a:prstGeom prst="rect">
            <a:avLst/>
          </a:prstGeom>
        </p:spPr>
      </p:pic>
    </p:spTree>
    <p:extLst>
      <p:ext uri="{BB962C8B-B14F-4D97-AF65-F5344CB8AC3E}">
        <p14:creationId xmlns:p14="http://schemas.microsoft.com/office/powerpoint/2010/main" val="4022473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5F119-8B6E-85A0-AF62-94335EC066D0}"/>
              </a:ext>
            </a:extLst>
          </p:cNvPr>
          <p:cNvSpPr>
            <a:spLocks noGrp="1"/>
          </p:cNvSpPr>
          <p:nvPr>
            <p:ph type="title"/>
          </p:nvPr>
        </p:nvSpPr>
        <p:spPr>
          <a:xfrm>
            <a:off x="838200" y="365126"/>
            <a:ext cx="10515600" cy="726256"/>
          </a:xfrm>
        </p:spPr>
        <p:txBody>
          <a:bodyPr>
            <a:normAutofit/>
          </a:bodyPr>
          <a:lstStyle/>
          <a:p>
            <a:pPr algn="ctr"/>
            <a:r>
              <a:rPr lang="en-US" sz="2000" b="1" dirty="0">
                <a:latin typeface="Times New Roman" panose="02020603050405020304" pitchFamily="18" charset="0"/>
                <a:cs typeface="Times New Roman" panose="02020603050405020304" pitchFamily="18" charset="0"/>
              </a:rPr>
              <a:t>FUTURE ENCHANCEMENT</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F0DAA-FFF9-736F-0407-A8CBF0A4C85A}"/>
              </a:ext>
            </a:extLst>
          </p:cNvPr>
          <p:cNvSpPr>
            <a:spLocks noGrp="1"/>
          </p:cNvSpPr>
          <p:nvPr>
            <p:ph idx="1"/>
          </p:nvPr>
        </p:nvSpPr>
        <p:spPr>
          <a:xfrm>
            <a:off x="838200" y="1091382"/>
            <a:ext cx="10515600" cy="5085581"/>
          </a:xfrm>
        </p:spPr>
        <p:txBody>
          <a:bodyPr>
            <a:normAutofit/>
          </a:bodyPr>
          <a:lstStyle/>
          <a:p>
            <a:pPr algn="just"/>
            <a:r>
              <a:rPr lang="en-US" sz="1800" dirty="0">
                <a:latin typeface="Times New Roman" panose="02020603050405020304" pitchFamily="18" charset="0"/>
                <a:ea typeface="+mn-lt"/>
                <a:cs typeface="Times New Roman" panose="02020603050405020304" pitchFamily="18" charset="0"/>
              </a:rPr>
              <a:t>The detection of skin cancer is continuously evolving with advancements in technology. Below are some potential future enhancements that can improve accuracy, accessibility, and patient outcomes.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Real-time Clinical Integration: In the future, skin cancer classification models could be integrated into real-time diagnostic tools used in clinics. This could involve mobile apps for patients or systems for dermatologists to instantly classify skin lesions, providing quicker diagnoses and enabling early intervention. Continuous improvements in hardware and computational efficiency could make this feasible even for resource-limited environments.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Improved Pre-trained Models: As medical imaging datasets grow and become more accessible, we can expect pre-trained models specifically designed for medical domains, including dermatology. Instead of using general-purpose models like ImageNet, future models could be pre-trained on large-scale medical image datasets, leading to better domain-specific feature extraction and performance.</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ea typeface="+mn-lt"/>
                <a:cs typeface="Times New Roman" panose="02020603050405020304" pitchFamily="18" charset="0"/>
              </a:rPr>
              <a:t>The future of transfer learning in skin cancer classification lies in improving model accuracy, enhancing data availability and diversity, increasing transparency, and integrating these models into real-world clinical workflows. With continued advancements, transfer learning-based models have the potential to revolutionize early skin cancer detection and improve patient outcomes.</a:t>
            </a:r>
            <a:endParaRPr 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44953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3F859-86CD-97B4-D7DC-22CA7B623177}"/>
              </a:ext>
            </a:extLst>
          </p:cNvPr>
          <p:cNvSpPr>
            <a:spLocks noGrp="1"/>
          </p:cNvSpPr>
          <p:nvPr>
            <p:ph type="title"/>
          </p:nvPr>
        </p:nvSpPr>
        <p:spPr>
          <a:xfrm>
            <a:off x="838200" y="365125"/>
            <a:ext cx="10515600" cy="844243"/>
          </a:xfrm>
        </p:spPr>
        <p:txBody>
          <a:bodyPr>
            <a:normAutofit/>
          </a:bodyPr>
          <a:lstStyle/>
          <a:p>
            <a:pPr algn="ctr"/>
            <a:r>
              <a:rPr lang="en-US" sz="2000" b="1" dirty="0">
                <a:latin typeface="Times New Roman" panose="02020603050405020304" pitchFamily="18" charset="0"/>
                <a:cs typeface="Times New Roman" panose="02020603050405020304" pitchFamily="18" charset="0"/>
              </a:rPr>
              <a:t>CONCLUSION</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01D1EB-E954-9732-A9A7-8FD12412C8F9}"/>
              </a:ext>
            </a:extLst>
          </p:cNvPr>
          <p:cNvSpPr>
            <a:spLocks noGrp="1"/>
          </p:cNvSpPr>
          <p:nvPr>
            <p:ph idx="1"/>
          </p:nvPr>
        </p:nvSpPr>
        <p:spPr/>
        <p:txBody>
          <a:bodyPr>
            <a:normAutofit/>
          </a:bodyPr>
          <a:lstStyle/>
          <a:p>
            <a:pPr algn="just"/>
            <a:r>
              <a:rPr lang="en-US" sz="1800" dirty="0">
                <a:latin typeface="Times New Roman" panose="02020603050405020304" pitchFamily="18" charset="0"/>
                <a:ea typeface="+mn-lt"/>
                <a:cs typeface="Times New Roman" panose="02020603050405020304" pitchFamily="18" charset="0"/>
              </a:rPr>
              <a:t>Skin cancer detection methods have evolved significantly, moving from traditional clinical examinations to advanced technologies such as </a:t>
            </a:r>
            <a:r>
              <a:rPr lang="en-US" sz="1800" dirty="0" err="1">
                <a:latin typeface="Times New Roman" panose="02020603050405020304" pitchFamily="18" charset="0"/>
                <a:ea typeface="+mn-lt"/>
                <a:cs typeface="Times New Roman" panose="02020603050405020304" pitchFamily="18" charset="0"/>
              </a:rPr>
              <a:t>dermoscopy</a:t>
            </a:r>
            <a:r>
              <a:rPr lang="en-US" sz="1800" dirty="0">
                <a:latin typeface="Times New Roman" panose="02020603050405020304" pitchFamily="18" charset="0"/>
                <a:ea typeface="+mn-lt"/>
                <a:cs typeface="Times New Roman" panose="02020603050405020304" pitchFamily="18" charset="0"/>
              </a:rPr>
              <a:t>, AI-powered diagnostics, and digital imaging. Despite the current advancements, there is still room for improvement to enhance accuracy, accessibility, and early detection.</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mn-lt"/>
                <a:cs typeface="Times New Roman" panose="02020603050405020304" pitchFamily="18" charset="0"/>
              </a:rPr>
              <a:t>Future innovations like wearable technology, genetic testing, AI models, and non-invasive biopsy methods will revolutionize skin cancer detection by providing more personalized, precise, and efficient diagnostic solutions. These advancements will reduce the burden on healthcare systems, improve patient outcomes, and increase survival rates by enabling early intervention.</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implementation of a skin cancer detection system using Convolutional Neural Networks (CNNs) demonstrates the potential of deep learning in revolutionizing medical diagnostics. By leveraging advanced image processing techniques and robust CNN architectures, the system effectively classifies skin lesions as benign or malignant with significant accuracy. The integration of data preprocessing methods, including normalization and augmentation, ensures that the model generalizes well to diverse and unseen datasets. Metrics such as precision, recall, F1-score, and confusion matrices validate the system’s reliability, providing a comprehensive evaluation of its performance.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0919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1263-5FAE-9ECC-E6F2-7815B067DD72}"/>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A92E7C5-8F88-0801-6D78-12EEF05A92FB}"/>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00472" y="321807"/>
            <a:ext cx="5991055" cy="6214385"/>
          </a:xfrm>
          <a:prstGeom prst="rect">
            <a:avLst/>
          </a:prstGeom>
        </p:spPr>
      </p:pic>
    </p:spTree>
    <p:extLst>
      <p:ext uri="{BB962C8B-B14F-4D97-AF65-F5344CB8AC3E}">
        <p14:creationId xmlns:p14="http://schemas.microsoft.com/office/powerpoint/2010/main" val="1365139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2608</Words>
  <Application>Microsoft Office PowerPoint</Application>
  <PresentationFormat>Widescreen</PresentationFormat>
  <Paragraphs>125</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        A Mini Project  On Skin Cancer Detection Using Convolutional Neural Networks by T. Heema Sree (21N81A6770) P. Navya Sri   (21N81A6782) K.Vamshidhar  (21N81A67B3) Under the Supervision of  Mr.Raghavendra M I                                            M.Tech  Assistant Professor    </vt:lpstr>
      <vt:lpstr>Abstract </vt:lpstr>
      <vt:lpstr>INTRODUCTION </vt:lpstr>
      <vt:lpstr>  LITERATURE SURVEY </vt:lpstr>
      <vt:lpstr>PowerPoint Presentation</vt:lpstr>
      <vt:lpstr>EXISTING SYSTEM</vt:lpstr>
      <vt:lpstr>PROPOSED  SYSTEM</vt:lpstr>
      <vt:lpstr>SYSTEM REQUIREMENTS</vt:lpstr>
      <vt:lpstr> LIBRARIES</vt:lpstr>
      <vt:lpstr>System Architecture</vt:lpstr>
      <vt:lpstr>SYSTEM DESIGN</vt:lpstr>
      <vt:lpstr>METHODOLOGY</vt:lpstr>
      <vt:lpstr>METHODOLOGY</vt:lpstr>
      <vt:lpstr>Workflow</vt:lpstr>
      <vt:lpstr>Workflow</vt:lpstr>
      <vt:lpstr>EVALUATION</vt:lpstr>
      <vt:lpstr>EVALUATION</vt:lpstr>
      <vt:lpstr>PowerPoint Presentation</vt:lpstr>
      <vt:lpstr>FUTURE ENCHANCEMENT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heema sree</dc:creator>
  <cp:lastModifiedBy>heema sree</cp:lastModifiedBy>
  <cp:revision>2</cp:revision>
  <dcterms:created xsi:type="dcterms:W3CDTF">2025-01-07T13:55:25Z</dcterms:created>
  <dcterms:modified xsi:type="dcterms:W3CDTF">2025-01-28T17:09:56Z</dcterms:modified>
</cp:coreProperties>
</file>