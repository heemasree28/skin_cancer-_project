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931896-ADA0-4524-A4C2-694A41584023}" v="1" dt="2025-01-07T15:05:44.2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ema sree" userId="d2a9df16657e9b30" providerId="LiveId" clId="{4B931896-ADA0-4524-A4C2-694A41584023}"/>
    <pc:docChg chg="modSld">
      <pc:chgData name="heema sree" userId="d2a9df16657e9b30" providerId="LiveId" clId="{4B931896-ADA0-4524-A4C2-694A41584023}" dt="2025-01-07T15:05:44.229" v="0" actId="571"/>
      <pc:docMkLst>
        <pc:docMk/>
      </pc:docMkLst>
      <pc:sldChg chg="addSp modSp">
        <pc:chgData name="heema sree" userId="d2a9df16657e9b30" providerId="LiveId" clId="{4B931896-ADA0-4524-A4C2-694A41584023}" dt="2025-01-07T15:05:44.229" v="0" actId="571"/>
        <pc:sldMkLst>
          <pc:docMk/>
          <pc:sldMk cId="350548473" sldId="260"/>
        </pc:sldMkLst>
        <pc:picChg chg="add mod">
          <ac:chgData name="heema sree" userId="d2a9df16657e9b30" providerId="LiveId" clId="{4B931896-ADA0-4524-A4C2-694A41584023}" dt="2025-01-07T15:05:44.229" v="0" actId="571"/>
          <ac:picMkLst>
            <pc:docMk/>
            <pc:sldMk cId="350548473" sldId="260"/>
            <ac:picMk id="3" creationId="{B36054A0-C6A7-92E6-07B6-A859BB043A7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368ED-D5AF-B8B5-DADA-082B7EFC46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9ED465-F982-3453-C24F-F011D9A588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A5D165-7D08-DF0D-CBD1-B6A16BBE885D}"/>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5" name="Footer Placeholder 4">
            <a:extLst>
              <a:ext uri="{FF2B5EF4-FFF2-40B4-BE49-F238E27FC236}">
                <a16:creationId xmlns:a16="http://schemas.microsoft.com/office/drawing/2014/main" id="{9BEE429C-E722-DD3F-E70E-93C69CE058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4B0DBB-948D-C25B-8051-F8AF4B781D29}"/>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2893268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A1BD6-5B40-A068-2469-C553F40FE2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FFC86A-E3F5-21A3-47C9-6555758057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80AB3E-BFAB-2486-746E-1600BBBF2A75}"/>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5" name="Footer Placeholder 4">
            <a:extLst>
              <a:ext uri="{FF2B5EF4-FFF2-40B4-BE49-F238E27FC236}">
                <a16:creationId xmlns:a16="http://schemas.microsoft.com/office/drawing/2014/main" id="{B7AE6469-B958-92E4-9D61-0A42348E13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2452B0-FE8B-F7C2-EB16-0F0AE2F2BDF1}"/>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768095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5F221-7FC0-4230-153E-455649901A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71316B-8D5C-D38F-338A-D9B4743F48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D73E5D-89E4-39D2-3BC0-7F24692855E4}"/>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5" name="Footer Placeholder 4">
            <a:extLst>
              <a:ext uri="{FF2B5EF4-FFF2-40B4-BE49-F238E27FC236}">
                <a16:creationId xmlns:a16="http://schemas.microsoft.com/office/drawing/2014/main" id="{421306E9-EB35-27B3-A30C-3BCA8C6C4B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87180C-F76A-6F35-C05A-CF1388C203FD}"/>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3908687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6A365-AA66-58B8-7F1E-0B19EAB164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5543EF-42FD-D7BB-DC1C-87B099E3EA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A765305-36C8-B685-BD12-FC8FF55F5C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D8114D-A188-1A29-370F-71EBD769DDDE}"/>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6" name="Footer Placeholder 5">
            <a:extLst>
              <a:ext uri="{FF2B5EF4-FFF2-40B4-BE49-F238E27FC236}">
                <a16:creationId xmlns:a16="http://schemas.microsoft.com/office/drawing/2014/main" id="{8F6B86ED-A774-53B0-0FAD-55BCC1F07F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67F935-B27E-3E3F-5635-94090A82F8F3}"/>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2157862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6CB29-C952-2902-233A-FB3C9F4B67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F16FE6-4095-A94F-B375-17782112F2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7AA485-EDF6-9E98-E138-A3F5198964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DA1D946-4504-EA29-07F1-F2B3EF7866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EE8C3D-553F-ACC0-7207-9DCF3B7901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F794EB-9C25-C454-C3EA-9CCC23F735A8}"/>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8" name="Footer Placeholder 7">
            <a:extLst>
              <a:ext uri="{FF2B5EF4-FFF2-40B4-BE49-F238E27FC236}">
                <a16:creationId xmlns:a16="http://schemas.microsoft.com/office/drawing/2014/main" id="{0343C48E-7597-1421-17A9-F86AD25547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EB4F25-C89A-D6EA-8676-370A87076B46}"/>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1479644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B2434-995E-AEC7-2E04-0D4891E745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0C7F32-3AB2-7D61-0706-EBD1EC9613CB}"/>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4" name="Footer Placeholder 3">
            <a:extLst>
              <a:ext uri="{FF2B5EF4-FFF2-40B4-BE49-F238E27FC236}">
                <a16:creationId xmlns:a16="http://schemas.microsoft.com/office/drawing/2014/main" id="{DEB8221D-5B12-6ED1-9638-8F3FBF7F4B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62C31C-F603-EFA9-3A5A-EE505B825E0E}"/>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2205909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D457B0-A569-6C6E-9538-1A2F86C6885C}"/>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3" name="Footer Placeholder 2">
            <a:extLst>
              <a:ext uri="{FF2B5EF4-FFF2-40B4-BE49-F238E27FC236}">
                <a16:creationId xmlns:a16="http://schemas.microsoft.com/office/drawing/2014/main" id="{446819D2-3088-4DD8-3C34-FC9F8004DD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ACA47C-D569-F243-64BA-63B99FD74B19}"/>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3392732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B2F91-1D72-364D-78B6-7403DC0650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A1AD1F-8C1C-4D7A-D4D9-41698575C0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F89DCF-8B77-5121-12A1-8659D1A255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273AE-CB81-C0E6-1240-B0EA89D49A45}"/>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6" name="Footer Placeholder 5">
            <a:extLst>
              <a:ext uri="{FF2B5EF4-FFF2-40B4-BE49-F238E27FC236}">
                <a16:creationId xmlns:a16="http://schemas.microsoft.com/office/drawing/2014/main" id="{2D6D7D47-759A-3838-F650-86B0222B3C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432657-6541-19B4-2505-347334D92678}"/>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3384443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3C1B-0071-7D2C-6157-A70C2B9E1C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85540B-6C0E-D6FB-8CD9-A063B0E6CE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02F9F2-1F81-9621-DE2B-9992EEF207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9E9FFE-509F-5BFC-A800-91BB6FEF0ABB}"/>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6" name="Footer Placeholder 5">
            <a:extLst>
              <a:ext uri="{FF2B5EF4-FFF2-40B4-BE49-F238E27FC236}">
                <a16:creationId xmlns:a16="http://schemas.microsoft.com/office/drawing/2014/main" id="{501953DE-18ED-71A5-07CC-4D3CDF8567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36D58-14F3-E1DB-71F7-BAD0FB71862E}"/>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1039105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8C5C-75BF-A1B1-49EE-94A3660997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C496B5-A6F9-8B5A-BC73-6D43826D76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0E323F-9AE9-BCE1-16A3-BA6D871CD008}"/>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5" name="Footer Placeholder 4">
            <a:extLst>
              <a:ext uri="{FF2B5EF4-FFF2-40B4-BE49-F238E27FC236}">
                <a16:creationId xmlns:a16="http://schemas.microsoft.com/office/drawing/2014/main" id="{CDBCD9C7-A605-BBC3-142D-3CD65F69DE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CEE63C-D5AD-9BB7-1AFC-885E0B801F6D}"/>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1589031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1C1CB5-B558-CC85-8DDD-C364710EB6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9BBE08-3F72-13CA-E2A0-0DE093D4DA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D1A0F9-89CE-02AE-2DBA-DC9CC3ACE1AD}"/>
              </a:ext>
            </a:extLst>
          </p:cNvPr>
          <p:cNvSpPr>
            <a:spLocks noGrp="1"/>
          </p:cNvSpPr>
          <p:nvPr>
            <p:ph type="dt" sz="half" idx="10"/>
          </p:nvPr>
        </p:nvSpPr>
        <p:spPr/>
        <p:txBody>
          <a:bodyPr/>
          <a:lstStyle/>
          <a:p>
            <a:fld id="{046D6E21-27A2-49A8-B3BD-B4CD2E205FA8}" type="datetimeFigureOut">
              <a:rPr lang="en-IN" smtClean="0"/>
              <a:t>07-01-2025</a:t>
            </a:fld>
            <a:endParaRPr lang="en-IN"/>
          </a:p>
        </p:txBody>
      </p:sp>
      <p:sp>
        <p:nvSpPr>
          <p:cNvPr id="5" name="Footer Placeholder 4">
            <a:extLst>
              <a:ext uri="{FF2B5EF4-FFF2-40B4-BE49-F238E27FC236}">
                <a16:creationId xmlns:a16="http://schemas.microsoft.com/office/drawing/2014/main" id="{853A6DCC-55F2-79A8-FF10-9218124041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AF05F5-CA3E-4EFE-0171-C1EAC24A2348}"/>
              </a:ext>
            </a:extLst>
          </p:cNvPr>
          <p:cNvSpPr>
            <a:spLocks noGrp="1"/>
          </p:cNvSpPr>
          <p:nvPr>
            <p:ph type="sldNum" sz="quarter" idx="12"/>
          </p:nvPr>
        </p:nvSpPr>
        <p:spPr/>
        <p:txBody>
          <a:bodyPr/>
          <a:lstStyle/>
          <a:p>
            <a:fld id="{8F912514-D5ED-4165-9086-889FF9DD2B6C}" type="slidenum">
              <a:rPr lang="en-IN" smtClean="0"/>
              <a:t>‹#›</a:t>
            </a:fld>
            <a:endParaRPr lang="en-IN"/>
          </a:p>
        </p:txBody>
      </p:sp>
    </p:spTree>
    <p:extLst>
      <p:ext uri="{BB962C8B-B14F-4D97-AF65-F5344CB8AC3E}">
        <p14:creationId xmlns:p14="http://schemas.microsoft.com/office/powerpoint/2010/main" val="669551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FDA3F7-DF1A-84C1-B9D2-234D768D7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FA531D-605F-96DE-AFE7-4310CAEDDA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BB4D59-A62E-765B-8336-06D3F2318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6D6E21-27A2-49A8-B3BD-B4CD2E205FA8}" type="datetimeFigureOut">
              <a:rPr lang="en-IN" smtClean="0"/>
              <a:t>07-01-2025</a:t>
            </a:fld>
            <a:endParaRPr lang="en-IN"/>
          </a:p>
        </p:txBody>
      </p:sp>
      <p:sp>
        <p:nvSpPr>
          <p:cNvPr id="5" name="Footer Placeholder 4">
            <a:extLst>
              <a:ext uri="{FF2B5EF4-FFF2-40B4-BE49-F238E27FC236}">
                <a16:creationId xmlns:a16="http://schemas.microsoft.com/office/drawing/2014/main" id="{0439C04D-3FED-648B-73DA-D3F501B4B7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B195A3-56D5-3180-4A5C-612C9BFAD2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912514-D5ED-4165-9086-889FF9DD2B6C}" type="slidenum">
              <a:rPr lang="en-IN" smtClean="0"/>
              <a:t>‹#›</a:t>
            </a:fld>
            <a:endParaRPr lang="en-IN"/>
          </a:p>
        </p:txBody>
      </p:sp>
    </p:spTree>
    <p:extLst>
      <p:ext uri="{BB962C8B-B14F-4D97-AF65-F5344CB8AC3E}">
        <p14:creationId xmlns:p14="http://schemas.microsoft.com/office/powerpoint/2010/main" val="3379027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ixabay.com/fr/illustrations/merci-note-merci-noter-message-1428147/"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8AB74-6720-7620-4F8A-9BCD0CCDFB93}"/>
              </a:ext>
            </a:extLst>
          </p:cNvPr>
          <p:cNvSpPr>
            <a:spLocks noGrp="1"/>
          </p:cNvSpPr>
          <p:nvPr>
            <p:ph type="ctrTitle"/>
          </p:nvPr>
        </p:nvSpPr>
        <p:spPr>
          <a:xfrm>
            <a:off x="1592825" y="-422787"/>
            <a:ext cx="9556954" cy="4444181"/>
          </a:xfrm>
        </p:spPr>
        <p:txBody>
          <a:bodyPr>
            <a:normAutofit fontScale="90000"/>
          </a:bodyPr>
          <a:lstStyle/>
          <a:p>
            <a:br>
              <a:rPr lang="en-IN" sz="1600" dirty="0"/>
            </a:br>
            <a:br>
              <a:rPr lang="en-IN" sz="1600" dirty="0"/>
            </a:br>
            <a:br>
              <a:rPr lang="en-IN" sz="1600" dirty="0"/>
            </a:br>
            <a:br>
              <a:rPr lang="en-IN" sz="1600" dirty="0"/>
            </a:br>
            <a:br>
              <a:rPr lang="en-IN" sz="1600" dirty="0"/>
            </a:br>
            <a:br>
              <a:rPr lang="en-IN" sz="1600" dirty="0"/>
            </a:br>
            <a:br>
              <a:rPr lang="en-IN" sz="1600" dirty="0"/>
            </a:br>
            <a:br>
              <a:rPr lang="en-IN" sz="1600" dirty="0"/>
            </a:br>
            <a:r>
              <a:rPr lang="en-IN" sz="1900" dirty="0">
                <a:latin typeface="+mn-lt"/>
              </a:rPr>
              <a:t>A</a:t>
            </a:r>
            <a:br>
              <a:rPr lang="en-IN" sz="1900" dirty="0">
                <a:latin typeface="+mn-lt"/>
              </a:rPr>
            </a:br>
            <a:r>
              <a:rPr lang="en-IN" sz="1900" dirty="0">
                <a:latin typeface="+mn-lt"/>
              </a:rPr>
              <a:t>Mini Project on</a:t>
            </a:r>
            <a:br>
              <a:rPr lang="en-IN" sz="1600" dirty="0">
                <a:latin typeface="+mn-lt"/>
              </a:rPr>
            </a:br>
            <a:r>
              <a:rPr lang="en-IN" sz="2000" b="1" dirty="0">
                <a:latin typeface="+mn-lt"/>
              </a:rPr>
              <a:t>Skin Cancer Detection</a:t>
            </a:r>
            <a:br>
              <a:rPr lang="en-IN" sz="1600" b="1" dirty="0">
                <a:latin typeface="+mn-lt"/>
              </a:rPr>
            </a:br>
            <a:r>
              <a:rPr lang="en-IN" sz="1900" dirty="0">
                <a:latin typeface="+mn-lt"/>
              </a:rPr>
              <a:t>by</a:t>
            </a:r>
            <a:br>
              <a:rPr lang="en-IN" sz="1900" b="1" dirty="0">
                <a:latin typeface="+mn-lt"/>
              </a:rPr>
            </a:br>
            <a:r>
              <a:rPr lang="en-IN" sz="1900" dirty="0">
                <a:latin typeface="+mn-lt"/>
              </a:rPr>
              <a:t>1. </a:t>
            </a:r>
            <a:r>
              <a:rPr lang="en-IN" sz="1900" dirty="0" err="1">
                <a:latin typeface="+mn-lt"/>
              </a:rPr>
              <a:t>T.Heema</a:t>
            </a:r>
            <a:r>
              <a:rPr lang="en-IN" sz="1900" dirty="0">
                <a:latin typeface="+mn-lt"/>
              </a:rPr>
              <a:t> Sree            21N81A6770</a:t>
            </a:r>
            <a:br>
              <a:rPr lang="en-IN" sz="1900" dirty="0">
                <a:latin typeface="+mn-lt"/>
              </a:rPr>
            </a:br>
            <a:r>
              <a:rPr lang="en-IN" sz="1900" dirty="0">
                <a:latin typeface="+mn-lt"/>
              </a:rPr>
              <a:t>2. P. Navya Sri                 21N81A6782</a:t>
            </a:r>
            <a:br>
              <a:rPr lang="en-IN" sz="1900" dirty="0">
                <a:latin typeface="+mn-lt"/>
              </a:rPr>
            </a:br>
            <a:r>
              <a:rPr lang="en-IN" sz="1900" dirty="0">
                <a:latin typeface="+mn-lt"/>
              </a:rPr>
              <a:t>3. </a:t>
            </a:r>
            <a:r>
              <a:rPr lang="en-IN" sz="1900" dirty="0" err="1">
                <a:latin typeface="+mn-lt"/>
              </a:rPr>
              <a:t>K.Vamshidhar</a:t>
            </a:r>
            <a:r>
              <a:rPr lang="en-IN" sz="1900" dirty="0">
                <a:latin typeface="+mn-lt"/>
              </a:rPr>
              <a:t>              21N81A67B3</a:t>
            </a:r>
            <a:br>
              <a:rPr lang="en-IN" sz="1900" dirty="0">
                <a:latin typeface="+mn-lt"/>
              </a:rPr>
            </a:br>
            <a:br>
              <a:rPr lang="en-IN" sz="1900" dirty="0">
                <a:latin typeface="+mn-lt"/>
              </a:rPr>
            </a:br>
            <a:r>
              <a:rPr lang="en-IN" sz="1900" dirty="0">
                <a:latin typeface="+mn-lt"/>
              </a:rPr>
              <a:t>Under the Supervision of </a:t>
            </a:r>
            <a:br>
              <a:rPr lang="en-IN" sz="1900" dirty="0">
                <a:latin typeface="+mn-lt"/>
              </a:rPr>
            </a:br>
            <a:r>
              <a:rPr lang="en-IN" sz="1900" dirty="0" err="1">
                <a:latin typeface="+mn-lt"/>
              </a:rPr>
              <a:t>Mr.Raghavendra</a:t>
            </a:r>
            <a:r>
              <a:rPr lang="en-IN" sz="1900" dirty="0">
                <a:latin typeface="+mn-lt"/>
              </a:rPr>
              <a:t> M I</a:t>
            </a:r>
            <a:br>
              <a:rPr lang="en-IN" sz="1900" dirty="0">
                <a:latin typeface="+mn-lt"/>
              </a:rPr>
            </a:br>
            <a:r>
              <a:rPr lang="en-IN" sz="1900" dirty="0">
                <a:latin typeface="+mn-lt"/>
              </a:rPr>
              <a:t>                          </a:t>
            </a:r>
            <a:r>
              <a:rPr lang="en-IN" sz="1900" dirty="0" err="1">
                <a:latin typeface="+mn-lt"/>
              </a:rPr>
              <a:t>M.Tech</a:t>
            </a:r>
            <a:r>
              <a:rPr lang="en-IN" sz="1900" dirty="0">
                <a:latin typeface="+mn-lt"/>
              </a:rPr>
              <a:t> </a:t>
            </a:r>
            <a:br>
              <a:rPr lang="en-IN" sz="1900" dirty="0">
                <a:latin typeface="+mn-lt"/>
              </a:rPr>
            </a:br>
            <a:r>
              <a:rPr lang="en-IN" sz="1900" dirty="0">
                <a:latin typeface="+mn-lt"/>
              </a:rPr>
              <a:t>Assistant Professor</a:t>
            </a:r>
            <a:br>
              <a:rPr lang="en-IN" sz="1300" dirty="0"/>
            </a:br>
            <a:br>
              <a:rPr lang="en-IN" sz="1300" dirty="0"/>
            </a:br>
            <a:br>
              <a:rPr lang="en-IN" sz="1300" dirty="0"/>
            </a:br>
            <a:br>
              <a:rPr lang="en-IN" sz="800" dirty="0"/>
            </a:br>
            <a:endParaRPr lang="en-IN" sz="2000" b="1" dirty="0"/>
          </a:p>
        </p:txBody>
      </p:sp>
      <p:sp>
        <p:nvSpPr>
          <p:cNvPr id="3" name="Subtitle 2">
            <a:extLst>
              <a:ext uri="{FF2B5EF4-FFF2-40B4-BE49-F238E27FC236}">
                <a16:creationId xmlns:a16="http://schemas.microsoft.com/office/drawing/2014/main" id="{BBB58AE1-B91C-69DC-2CBF-AF53D0E9CB15}"/>
              </a:ext>
            </a:extLst>
          </p:cNvPr>
          <p:cNvSpPr>
            <a:spLocks noGrp="1"/>
          </p:cNvSpPr>
          <p:nvPr>
            <p:ph type="subTitle" idx="1"/>
          </p:nvPr>
        </p:nvSpPr>
        <p:spPr>
          <a:xfrm>
            <a:off x="1809134" y="4650658"/>
            <a:ext cx="9340645" cy="2000864"/>
          </a:xfrm>
        </p:spPr>
        <p:txBody>
          <a:bodyPr>
            <a:normAutofit fontScale="92500" lnSpcReduction="20000"/>
          </a:bodyPr>
          <a:lstStyle/>
          <a:p>
            <a:endParaRPr lang="en-IN" dirty="0"/>
          </a:p>
          <a:p>
            <a:r>
              <a:rPr lang="en-IN" sz="1900" b="1" dirty="0"/>
              <a:t>Department of CSE-</a:t>
            </a:r>
            <a:r>
              <a:rPr lang="en-IN" sz="1900" b="1" dirty="0" err="1"/>
              <a:t>DataScience</a:t>
            </a:r>
            <a:endParaRPr lang="en-IN" sz="1900" b="1" dirty="0"/>
          </a:p>
          <a:p>
            <a:r>
              <a:rPr lang="en-IN" sz="1900" b="1" dirty="0" err="1"/>
              <a:t>Sphoorthy</a:t>
            </a:r>
            <a:r>
              <a:rPr lang="en-IN" sz="1900" b="1" dirty="0"/>
              <a:t> Engineering College</a:t>
            </a:r>
          </a:p>
          <a:p>
            <a:r>
              <a:rPr lang="en-IN" sz="1800" dirty="0"/>
              <a:t>(Approved by AICTE &amp;Affiliated to JNTUH )</a:t>
            </a:r>
          </a:p>
          <a:p>
            <a:r>
              <a:rPr lang="en-IN" sz="1800" dirty="0" err="1"/>
              <a:t>Nadergul</a:t>
            </a:r>
            <a:r>
              <a:rPr lang="en-IN" sz="1800" dirty="0"/>
              <a:t> , </a:t>
            </a:r>
            <a:r>
              <a:rPr lang="en-IN" sz="1800" dirty="0" err="1"/>
              <a:t>SaroorNagar</a:t>
            </a:r>
            <a:r>
              <a:rPr lang="en-IN" sz="1800" dirty="0"/>
              <a:t> Mandal , </a:t>
            </a:r>
            <a:r>
              <a:rPr lang="en-IN" sz="1800" dirty="0" err="1"/>
              <a:t>Hyderbad</a:t>
            </a:r>
            <a:r>
              <a:rPr lang="en-IN" sz="1800" dirty="0"/>
              <a:t> – 501510</a:t>
            </a:r>
          </a:p>
          <a:p>
            <a:r>
              <a:rPr lang="en-IN" sz="1800" dirty="0"/>
              <a:t>Academic Year : 2024-2025</a:t>
            </a:r>
          </a:p>
        </p:txBody>
      </p:sp>
      <p:pic>
        <p:nvPicPr>
          <p:cNvPr id="5" name="Picture 4">
            <a:extLst>
              <a:ext uri="{FF2B5EF4-FFF2-40B4-BE49-F238E27FC236}">
                <a16:creationId xmlns:a16="http://schemas.microsoft.com/office/drawing/2014/main" id="{C8E32DBC-6025-DC66-1045-87FB36E36D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8161" y="3429000"/>
            <a:ext cx="1489971" cy="1402326"/>
          </a:xfrm>
          <a:prstGeom prst="rect">
            <a:avLst/>
          </a:prstGeom>
        </p:spPr>
      </p:pic>
    </p:spTree>
    <p:extLst>
      <p:ext uri="{BB962C8B-B14F-4D97-AF65-F5344CB8AC3E}">
        <p14:creationId xmlns:p14="http://schemas.microsoft.com/office/powerpoint/2010/main" val="255610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55FE3-45C4-0233-D0B7-8392CFB6F7A2}"/>
              </a:ext>
            </a:extLst>
          </p:cNvPr>
          <p:cNvSpPr>
            <a:spLocks noGrp="1"/>
          </p:cNvSpPr>
          <p:nvPr>
            <p:ph type="title"/>
          </p:nvPr>
        </p:nvSpPr>
        <p:spPr/>
        <p:txBody>
          <a:bodyPr>
            <a:normAutofit/>
          </a:bodyPr>
          <a:lstStyle/>
          <a:p>
            <a:pPr algn="ctr"/>
            <a:br>
              <a:rPr lang="en-IN" sz="1800" b="1" dirty="0">
                <a:latin typeface="+mn-lt"/>
              </a:rPr>
            </a:br>
            <a:br>
              <a:rPr lang="en-IN" sz="1800" b="1" dirty="0">
                <a:latin typeface="+mn-lt"/>
              </a:rPr>
            </a:br>
            <a:br>
              <a:rPr lang="en-IN" sz="1800" b="1" dirty="0">
                <a:latin typeface="+mn-lt"/>
              </a:rPr>
            </a:br>
            <a:r>
              <a:rPr lang="en-IN" sz="1800" b="1" dirty="0">
                <a:latin typeface="+mn-lt"/>
              </a:rPr>
              <a:t>ABSTRACT FOR PROPOSED PROJECT</a:t>
            </a:r>
          </a:p>
        </p:txBody>
      </p:sp>
      <p:sp>
        <p:nvSpPr>
          <p:cNvPr id="3" name="Content Placeholder 2">
            <a:extLst>
              <a:ext uri="{FF2B5EF4-FFF2-40B4-BE49-F238E27FC236}">
                <a16:creationId xmlns:a16="http://schemas.microsoft.com/office/drawing/2014/main" id="{8AF17A3F-CD85-C26F-0086-73129A9390FA}"/>
              </a:ext>
            </a:extLst>
          </p:cNvPr>
          <p:cNvSpPr>
            <a:spLocks noGrp="1"/>
          </p:cNvSpPr>
          <p:nvPr>
            <p:ph idx="1"/>
          </p:nvPr>
        </p:nvSpPr>
        <p:spPr>
          <a:xfrm>
            <a:off x="1199534" y="2202425"/>
            <a:ext cx="10154265" cy="3974537"/>
          </a:xfrm>
        </p:spPr>
        <p:txBody>
          <a:bodyPr>
            <a:normAutofit/>
          </a:bodyPr>
          <a:lstStyle/>
          <a:p>
            <a:pPr marL="0" indent="0" algn="just">
              <a:buNone/>
            </a:pPr>
            <a:r>
              <a:rPr lang="en-IN" sz="1700" dirty="0">
                <a:effectLst/>
                <a:ea typeface="Calibri" panose="020F0502020204030204" pitchFamily="34" charset="0"/>
                <a:cs typeface="Times New Roman" panose="02020603050405020304" pitchFamily="18" charset="0"/>
              </a:rPr>
              <a:t>Skin cancer, particularly melanoma, has a high mortality rate when detected at advanced stages, making early and accurate diagnosis essential. This study presents a deep learning-based system for automated skin cancer detection using </a:t>
            </a:r>
            <a:r>
              <a:rPr lang="en-IN" sz="1700" dirty="0" err="1">
                <a:effectLst/>
                <a:ea typeface="Calibri" panose="020F0502020204030204" pitchFamily="34" charset="0"/>
                <a:cs typeface="Times New Roman" panose="02020603050405020304" pitchFamily="18" charset="0"/>
              </a:rPr>
              <a:t>dermatoscopic</a:t>
            </a:r>
            <a:r>
              <a:rPr lang="en-IN" sz="1700" dirty="0">
                <a:effectLst/>
                <a:ea typeface="Calibri" panose="020F0502020204030204" pitchFamily="34" charset="0"/>
                <a:cs typeface="Times New Roman" panose="02020603050405020304" pitchFamily="18" charset="0"/>
              </a:rPr>
              <a:t> images. A convolutional neural network (CNN) was developed to classify skin lesions into benign and malignant categories, utilizing a large, publicly available dataset. Key preprocessing steps</a:t>
            </a:r>
            <a:r>
              <a:rPr lang="en-US" sz="1700" dirty="0">
                <a:effectLst/>
                <a:ea typeface="Calibri" panose="020F0502020204030204" pitchFamily="34" charset="0"/>
                <a:cs typeface="Times New Roman" panose="02020603050405020304" pitchFamily="18" charset="0"/>
              </a:rPr>
              <a:t> were applied to improve the model's accuracy and robustness, including lesion segmentation, image enhancement, and data augmentation</a:t>
            </a:r>
            <a:r>
              <a:rPr lang="en-IN" sz="1700" dirty="0">
                <a:effectLst/>
                <a:ea typeface="Calibri" panose="020F0502020204030204" pitchFamily="34" charset="0"/>
                <a:cs typeface="Times New Roman" panose="02020603050405020304" pitchFamily="18" charset="0"/>
              </a:rPr>
              <a:t>. Transfer learning was incorporated to address the challenge of limited annotated data, allowing the model to leverage pre-trained weights from large-scale image classification tasks. The proposed model achieved superior accuracy, sensitivity, and specificity compared to traditional diagnostic methods and existing machine-learning approaches. This automated system significantly reduces the time required for diagnosis, assisting dermatologists in early detection and minimizing the risk of human error. Moreover, it offers a scalable solution for regions with limited access to dermatological expertise, enabling remote and cost-effective skin cancer screening. The study demonstrates the potential of AI-driven technologies to revolutionize skin cancer detection, ultimately contributing to improved patient outcomes through timely interventions</a:t>
            </a:r>
            <a:endParaRPr lang="en-IN" sz="1700" dirty="0"/>
          </a:p>
        </p:txBody>
      </p:sp>
    </p:spTree>
    <p:extLst>
      <p:ext uri="{BB962C8B-B14F-4D97-AF65-F5344CB8AC3E}">
        <p14:creationId xmlns:p14="http://schemas.microsoft.com/office/powerpoint/2010/main" val="138325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F4CC9-9435-A483-FB67-EA0B177DC936}"/>
              </a:ext>
            </a:extLst>
          </p:cNvPr>
          <p:cNvSpPr>
            <a:spLocks noGrp="1"/>
          </p:cNvSpPr>
          <p:nvPr>
            <p:ph type="title"/>
          </p:nvPr>
        </p:nvSpPr>
        <p:spPr/>
        <p:txBody>
          <a:bodyPr>
            <a:normAutofit/>
          </a:bodyPr>
          <a:lstStyle/>
          <a:p>
            <a:pPr algn="ctr"/>
            <a:r>
              <a:rPr lang="en-IN" sz="1800" b="1" dirty="0">
                <a:latin typeface="+mn-lt"/>
              </a:rPr>
              <a:t>EXISTING PROJECT ABSTRACT</a:t>
            </a:r>
          </a:p>
        </p:txBody>
      </p:sp>
      <p:sp>
        <p:nvSpPr>
          <p:cNvPr id="3" name="Content Placeholder 2">
            <a:extLst>
              <a:ext uri="{FF2B5EF4-FFF2-40B4-BE49-F238E27FC236}">
                <a16:creationId xmlns:a16="http://schemas.microsoft.com/office/drawing/2014/main" id="{87E384C4-36DA-A437-8694-436EA650670A}"/>
              </a:ext>
            </a:extLst>
          </p:cNvPr>
          <p:cNvSpPr>
            <a:spLocks noGrp="1"/>
          </p:cNvSpPr>
          <p:nvPr>
            <p:ph idx="1"/>
          </p:nvPr>
        </p:nvSpPr>
        <p:spPr>
          <a:xfrm>
            <a:off x="838200" y="1825625"/>
            <a:ext cx="10515600" cy="4840646"/>
          </a:xfrm>
        </p:spPr>
        <p:txBody>
          <a:bodyPr>
            <a:normAutofit lnSpcReduction="10000"/>
          </a:bodyPr>
          <a:lstStyle/>
          <a:p>
            <a:pPr algn="just"/>
            <a:r>
              <a:rPr lang="en-US" sz="1700" dirty="0"/>
              <a:t>Skin cancer is one of the most common and deadliest types of cancer. Early diagnosis of skin cancer at a benign stage is critical to reducing cancer mortality. To detect skin cancer at an earlier stage an automated system is compulsory that can save the life of many patients. Many previous studies have addressed the problem of skin cancer diagnosis using various deep learning and transfer learning models. However, existing literature has limitations in its accuracy and time-consuming procedure. In this work, we applied five different pre-trained transfer learning approaches for binary classification of skin cancer detection at benign and malignant stages. To increase the accuracy of these models we fine-tune different layers and activation functions. We used a publicly available ISIC dataset to evaluate transfer learning approaches. For model stability, data augmentation techniques are applied to improve the randomness of the input dataset. These approaches are evaluated using different hyperparameters such as batch sizes, epochs, and optimizers. The experimental results show that the ResNet-50 model provides an accuracy of 0.935, F1-score of 0.86, and a precision of 0.94.[2024]</a:t>
            </a:r>
          </a:p>
          <a:p>
            <a:pPr algn="just"/>
            <a:r>
              <a:rPr lang="en-US" sz="1700" dirty="0"/>
              <a:t>Skin cancer detection still represents a major challenge in healthcare. Common detection methods can be lengthy and require human assistance which falls short in many countries. Previous research demonstrates how convolutional neural networks (CNNs) can help effectively through both automation and an accuracy that is comparable to the human level. However, despite the progress in previous decades, the precision is still limited, leading to substantial misclassifications that have a serious impact on people’s health. Hence, we employ a Vision Transformer (</a:t>
            </a:r>
            <a:r>
              <a:rPr lang="en-US" sz="1700" dirty="0" err="1"/>
              <a:t>ViT</a:t>
            </a:r>
            <a:r>
              <a:rPr lang="en-US" sz="1700" dirty="0"/>
              <a:t>) that has been developed in recent years based on the idea of a self-attention mechanism, specifically two configurations of a pre-trained </a:t>
            </a:r>
            <a:r>
              <a:rPr lang="en-US" sz="1700" dirty="0" err="1"/>
              <a:t>ViT</a:t>
            </a:r>
            <a:r>
              <a:rPr lang="en-US" sz="1700" dirty="0"/>
              <a:t>. We generally find superior metrics for classifying skin lesions after comparing them to base models such as the decision tree classifier and k-nearest neighbor (KNN) classifier, as well as to CNNs and less complex </a:t>
            </a:r>
            <a:r>
              <a:rPr lang="en-US" sz="1700" dirty="0" err="1"/>
              <a:t>ViTs</a:t>
            </a:r>
            <a:r>
              <a:rPr lang="en-US" sz="1700" dirty="0"/>
              <a:t>. In particular, we attach greater importance to the performance of melanoma, which is the most lethal type of skin cancer. The </a:t>
            </a:r>
            <a:r>
              <a:rPr lang="en-US" sz="1700" dirty="0" err="1"/>
              <a:t>ViT</a:t>
            </a:r>
            <a:r>
              <a:rPr lang="en-US" sz="1700" dirty="0"/>
              <a:t> L32 model achieves an accuracy of 91.57% and a melanoma recall of 58.54%, while </a:t>
            </a:r>
            <a:r>
              <a:rPr lang="en-US" sz="1700" dirty="0" err="1"/>
              <a:t>ViT</a:t>
            </a:r>
            <a:r>
              <a:rPr lang="en-US" sz="1700" dirty="0"/>
              <a:t> L16 achieves an accuracy of 92.79% and a melanoma recall of 56.10%. [2022]</a:t>
            </a:r>
            <a:endParaRPr lang="en-IN" sz="1700" dirty="0"/>
          </a:p>
        </p:txBody>
      </p:sp>
    </p:spTree>
    <p:extLst>
      <p:ext uri="{BB962C8B-B14F-4D97-AF65-F5344CB8AC3E}">
        <p14:creationId xmlns:p14="http://schemas.microsoft.com/office/powerpoint/2010/main" val="47386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51922-1EE1-1668-6E8A-745BD4F67551}"/>
              </a:ext>
            </a:extLst>
          </p:cNvPr>
          <p:cNvSpPr>
            <a:spLocks noGrp="1"/>
          </p:cNvSpPr>
          <p:nvPr>
            <p:ph type="title"/>
          </p:nvPr>
        </p:nvSpPr>
        <p:spPr>
          <a:xfrm>
            <a:off x="838200" y="88491"/>
            <a:ext cx="10515600" cy="1199535"/>
          </a:xfrm>
        </p:spPr>
        <p:txBody>
          <a:bodyPr>
            <a:normAutofit fontScale="90000"/>
          </a:bodyPr>
          <a:lstStyle/>
          <a:p>
            <a:pPr algn="ctr"/>
            <a:br>
              <a:rPr lang="en-IN" sz="1800" b="1" dirty="0">
                <a:effectLst/>
                <a:latin typeface="+mn-lt"/>
              </a:rPr>
            </a:br>
            <a:br>
              <a:rPr lang="en-IN" sz="1800" b="1" dirty="0">
                <a:effectLst/>
                <a:latin typeface="+mn-lt"/>
              </a:rPr>
            </a:br>
            <a:r>
              <a:rPr lang="en-IN" sz="1800" b="1" dirty="0">
                <a:effectLst/>
                <a:latin typeface="+mn-lt"/>
              </a:rPr>
              <a:t>LITERATURE SURVEY</a:t>
            </a:r>
            <a:br>
              <a:rPr lang="en-IN" dirty="0"/>
            </a:br>
            <a:endParaRPr lang="en-IN" dirty="0"/>
          </a:p>
        </p:txBody>
      </p:sp>
      <p:sp>
        <p:nvSpPr>
          <p:cNvPr id="3" name="Content Placeholder 2">
            <a:extLst>
              <a:ext uri="{FF2B5EF4-FFF2-40B4-BE49-F238E27FC236}">
                <a16:creationId xmlns:a16="http://schemas.microsoft.com/office/drawing/2014/main" id="{A70E30A1-5F12-37E2-2442-E22DFDCE426D}"/>
              </a:ext>
            </a:extLst>
          </p:cNvPr>
          <p:cNvSpPr>
            <a:spLocks noGrp="1"/>
          </p:cNvSpPr>
          <p:nvPr>
            <p:ph idx="1"/>
          </p:nvPr>
        </p:nvSpPr>
        <p:spPr>
          <a:xfrm>
            <a:off x="838200" y="1356852"/>
            <a:ext cx="10515600" cy="4820111"/>
          </a:xfrm>
        </p:spPr>
        <p:txBody>
          <a:bodyPr>
            <a:normAutofit fontScale="92500" lnSpcReduction="20000"/>
          </a:bodyPr>
          <a:lstStyle/>
          <a:p>
            <a:r>
              <a:rPr lang="en-US" sz="1700" b="1" dirty="0"/>
              <a:t>Skin Cancer Detection utilizing Deep Learning: Classification of Skin Lesion Images using a Vision Transformer</a:t>
            </a:r>
          </a:p>
          <a:p>
            <a:pPr marL="0" indent="0">
              <a:buNone/>
            </a:pPr>
            <a:r>
              <a:rPr lang="en-IN" sz="1700" b="1" dirty="0"/>
              <a:t>Publisher by :  </a:t>
            </a:r>
            <a:r>
              <a:rPr lang="en-IN" sz="1700" dirty="0"/>
              <a:t>Carolin </a:t>
            </a:r>
            <a:r>
              <a:rPr lang="en-IN" sz="1700" dirty="0" err="1"/>
              <a:t>Flosdorf</a:t>
            </a:r>
            <a:r>
              <a:rPr lang="en-IN" sz="1700" dirty="0"/>
              <a:t>, Justin </a:t>
            </a:r>
            <a:r>
              <a:rPr lang="en-IN" sz="1700" dirty="0" err="1"/>
              <a:t>Engelker</a:t>
            </a:r>
            <a:r>
              <a:rPr lang="en-IN" sz="1700" dirty="0"/>
              <a:t>, Igor Keller, Nicolas Mohr. </a:t>
            </a:r>
            <a:r>
              <a:rPr lang="en-IN" sz="1800" b="1" dirty="0"/>
              <a:t>Published Date: </a:t>
            </a:r>
            <a:r>
              <a:rPr lang="en-IN" sz="1700" dirty="0"/>
              <a:t>2024 </a:t>
            </a:r>
            <a:endParaRPr lang="en-US" sz="1700" dirty="0"/>
          </a:p>
          <a:p>
            <a:pPr marL="0" indent="0">
              <a:buNone/>
            </a:pPr>
            <a:r>
              <a:rPr lang="en-US" sz="1700" dirty="0"/>
              <a:t>This project aims to improve skin cancer detection using Vision Transformers (</a:t>
            </a:r>
            <a:r>
              <a:rPr lang="en-US" sz="1700" dirty="0" err="1"/>
              <a:t>ViTs</a:t>
            </a:r>
            <a:r>
              <a:rPr lang="en-US" sz="1700" dirty="0"/>
              <a:t>), a deep-learning architecture. By comparing </a:t>
            </a:r>
            <a:r>
              <a:rPr lang="en-US" sz="1700" dirty="0" err="1"/>
              <a:t>ViT</a:t>
            </a:r>
            <a:r>
              <a:rPr lang="en-US" sz="1700" dirty="0"/>
              <a:t> models with traditional models such as CNNs, decision trees, and k-nearest neighbors, the study aims to enhance the accuracy of classifying different skin lesions, particularly melanoma. The research highlights the potential of </a:t>
            </a:r>
            <a:r>
              <a:rPr lang="en-US" sz="1700" dirty="0" err="1"/>
              <a:t>ViTs</a:t>
            </a:r>
            <a:r>
              <a:rPr lang="en-US" sz="1700" dirty="0"/>
              <a:t> to offer faster and more accurate diagnoses, especially in healthcare settings with limited access to dermatologists​.</a:t>
            </a:r>
          </a:p>
          <a:p>
            <a:r>
              <a:rPr lang="en-IN" sz="1800" b="1" dirty="0"/>
              <a:t>Skin Cancer Images Classification using Transfer Learning Techniques </a:t>
            </a:r>
          </a:p>
          <a:p>
            <a:pPr marL="0" indent="0">
              <a:buNone/>
            </a:pPr>
            <a:r>
              <a:rPr lang="en-US" sz="1800" b="1" dirty="0"/>
              <a:t>Publisher by : </a:t>
            </a:r>
            <a:r>
              <a:rPr lang="en-IN" sz="1700" dirty="0" err="1"/>
              <a:t>MdSirajul</a:t>
            </a:r>
            <a:r>
              <a:rPr lang="en-IN" sz="1700" dirty="0"/>
              <a:t> Islam &amp; Sanjeev </a:t>
            </a:r>
            <a:r>
              <a:rPr lang="en-IN" sz="1700" dirty="0" err="1"/>
              <a:t>Panta</a:t>
            </a:r>
            <a:r>
              <a:rPr lang="en-IN" sz="1700" b="1" dirty="0"/>
              <a:t>. Published Date</a:t>
            </a:r>
            <a:r>
              <a:rPr lang="en-IN" sz="1700" dirty="0"/>
              <a:t>: 18 Jun 2024</a:t>
            </a:r>
            <a:endParaRPr lang="en-US" sz="1700" b="1" dirty="0"/>
          </a:p>
          <a:p>
            <a:pPr marL="0" indent="0">
              <a:buNone/>
            </a:pPr>
            <a:r>
              <a:rPr lang="en-US" sz="1700" dirty="0"/>
              <a:t>This project  focuses on using transfer learning techniques to classify skin cancer images as benign or malignant. It aims to improve the performance of skin cancer detection by fine-tuning pre-trained deep learning models like ResNet-50, </a:t>
            </a:r>
            <a:r>
              <a:rPr lang="en-US" sz="1700" dirty="0" err="1"/>
              <a:t>MobileNet</a:t>
            </a:r>
            <a:r>
              <a:rPr lang="en-US" sz="1700" dirty="0"/>
              <a:t>, and InceptionV3. The goal is to achieve higher accuracy, precision, and recall for early detection of skin cancer, particularly melanoma, using a publicly available dataset​.</a:t>
            </a:r>
          </a:p>
          <a:p>
            <a:r>
              <a:rPr lang="en-IN" sz="1800" b="1" dirty="0"/>
              <a:t>SKIN CANCER </a:t>
            </a:r>
          </a:p>
          <a:p>
            <a:pPr marL="0" indent="0">
              <a:buNone/>
            </a:pPr>
            <a:r>
              <a:rPr lang="en-IN" sz="1800" b="1" dirty="0"/>
              <a:t>Publisher by : </a:t>
            </a:r>
            <a:r>
              <a:rPr lang="en-IN" sz="1700" dirty="0"/>
              <a:t>Apple </a:t>
            </a:r>
            <a:r>
              <a:rPr lang="en-IN" sz="1700" dirty="0" err="1"/>
              <a:t>Bodemer</a:t>
            </a:r>
            <a:r>
              <a:rPr lang="en-IN" sz="1700" dirty="0"/>
              <a:t>, </a:t>
            </a:r>
            <a:r>
              <a:rPr lang="en-IN" sz="1700" b="1" dirty="0"/>
              <a:t>Publisher Date: </a:t>
            </a:r>
            <a:r>
              <a:rPr lang="en-IN" sz="1700" dirty="0"/>
              <a:t>2014, updated 2020.</a:t>
            </a:r>
          </a:p>
          <a:p>
            <a:pPr marL="0" indent="0">
              <a:buNone/>
            </a:pPr>
            <a:r>
              <a:rPr lang="en-US" sz="1700" dirty="0"/>
              <a:t>The main objective of this project  is to provide an overview of </a:t>
            </a:r>
            <a:r>
              <a:rPr lang="en-US" sz="1700" b="1" dirty="0"/>
              <a:t>skin cancer</a:t>
            </a:r>
            <a:r>
              <a:rPr lang="en-US" sz="1700" dirty="0"/>
              <a:t>, its types (melanoma and nonmelanoma), risk factors, prevention strategies, and treatment options. It emphasizes the importance of early detection and preventive measures, such as minimizing UV exposure, practicing regular skin self-examinations, and adopting a healthy diet rich in plant-based foods and antioxidants. The paper also explores the potential benefits of various natural compounds, vitamins, and botanicals like omega-3 fatty acids, beta-carotene, green tea, and curcumin in the prevention and management of skin cancer​</a:t>
            </a:r>
            <a:r>
              <a:rPr lang="en-IN" sz="1700" b="1" dirty="0"/>
              <a:t>.</a:t>
            </a:r>
          </a:p>
        </p:txBody>
      </p:sp>
    </p:spTree>
    <p:extLst>
      <p:ext uri="{BB962C8B-B14F-4D97-AF65-F5344CB8AC3E}">
        <p14:creationId xmlns:p14="http://schemas.microsoft.com/office/powerpoint/2010/main" val="104992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3A46-5675-C3B3-7F2E-B5C517797A7A}"/>
              </a:ext>
            </a:extLst>
          </p:cNvPr>
          <p:cNvSpPr>
            <a:spLocks noGrp="1"/>
          </p:cNvSpPr>
          <p:nvPr>
            <p:ph type="title"/>
          </p:nvPr>
        </p:nvSpPr>
        <p:spPr>
          <a:xfrm>
            <a:off x="3932903" y="737419"/>
            <a:ext cx="7420896" cy="6528620"/>
          </a:xfrm>
        </p:spPr>
        <p:txBody>
          <a:bodyPr>
            <a:normAutofit/>
          </a:bodyPr>
          <a:lstStyle/>
          <a:p>
            <a:endParaRPr lang="en-IN" sz="1800" b="1" dirty="0">
              <a:latin typeface="+mn-lt"/>
            </a:endParaRPr>
          </a:p>
        </p:txBody>
      </p:sp>
      <p:pic>
        <p:nvPicPr>
          <p:cNvPr id="4" name="Picture 3">
            <a:extLst>
              <a:ext uri="{FF2B5EF4-FFF2-40B4-BE49-F238E27FC236}">
                <a16:creationId xmlns:a16="http://schemas.microsoft.com/office/drawing/2014/main" id="{8246A10C-98CF-65F5-1FDB-3C8820FFBA7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882234" y="626806"/>
            <a:ext cx="5876925" cy="6096000"/>
          </a:xfrm>
          <a:prstGeom prst="rect">
            <a:avLst/>
          </a:prstGeom>
        </p:spPr>
      </p:pic>
      <p:pic>
        <p:nvPicPr>
          <p:cNvPr id="3" name="Picture 2">
            <a:extLst>
              <a:ext uri="{FF2B5EF4-FFF2-40B4-BE49-F238E27FC236}">
                <a16:creationId xmlns:a16="http://schemas.microsoft.com/office/drawing/2014/main" id="{B36054A0-C6A7-92E6-07B6-A859BB043A7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882234" y="381000"/>
            <a:ext cx="5876925" cy="6096000"/>
          </a:xfrm>
          <a:prstGeom prst="rect">
            <a:avLst/>
          </a:prstGeom>
        </p:spPr>
      </p:pic>
    </p:spTree>
    <p:extLst>
      <p:ext uri="{BB962C8B-B14F-4D97-AF65-F5344CB8AC3E}">
        <p14:creationId xmlns:p14="http://schemas.microsoft.com/office/powerpoint/2010/main" val="350548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761</TotalTime>
  <Words>1058</Words>
  <Application>Microsoft Office PowerPoint</Application>
  <PresentationFormat>Widescreen</PresentationFormat>
  <Paragraphs>22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        A Mini Project on Skin Cancer Detection by 1. T.Heema Sree            21N81A6770 2. P. Navya Sri                 21N81A6782 3. K.Vamshidhar              21N81A67B3  Under the Supervision of  Mr.Raghavendra M I                           M.Tech  Assistant Professor    </vt:lpstr>
      <vt:lpstr>   ABSTRACT FOR PROPOSED PROJECT</vt:lpstr>
      <vt:lpstr>EXISTING PROJECT ABSTRACT</vt:lpstr>
      <vt:lpstr>  LITERATURE SURVEY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heema sree</dc:creator>
  <cp:lastModifiedBy>heema sree</cp:lastModifiedBy>
  <cp:revision>2</cp:revision>
  <dcterms:created xsi:type="dcterms:W3CDTF">2024-09-29T13:54:33Z</dcterms:created>
  <dcterms:modified xsi:type="dcterms:W3CDTF">2025-01-07T15:05:53Z</dcterms:modified>
</cp:coreProperties>
</file>